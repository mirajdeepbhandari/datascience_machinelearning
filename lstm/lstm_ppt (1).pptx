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1" r:id="rId6"/>
    <p:sldId id="263" r:id="rId7"/>
    <p:sldId id="264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31" d="100"/>
          <a:sy n="131" d="100"/>
        </p:scale>
        <p:origin x="62" y="-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2759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96181"/>
            <a:ext cx="4914900" cy="2356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350" b="1" kern="0" spc="-2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LSTM:
MASTERING
LONG-TERM
DEPENDENCIES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571500" y="3750804"/>
            <a:ext cx="3571875" cy="461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A concise exploration of architecture, gates, and the power of selective memory.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50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kern="0" spc="-2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THE CHALLENGE OF SEQUENTIAL DATA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571500" y="1684154"/>
            <a:ext cx="4286250" cy="327898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71500" y="1864519"/>
            <a:ext cx="4286250" cy="57150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7250" y="2150269"/>
            <a:ext cx="371475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SEQUENCE LIMITS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57250" y="2453878"/>
            <a:ext cx="3714750" cy="385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Standard RNNs struggle with long-term dependencies as information fades over time.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57250" y="3108201"/>
            <a:ext cx="371475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VANISHING GRADIENTS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7250" y="3411810"/>
            <a:ext cx="3714750" cy="385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Gradients shrink exponentially during backpropagation, preventing effective learning.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57250" y="4066133"/>
            <a:ext cx="371475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THE NEED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7250" y="4369743"/>
            <a:ext cx="3714750" cy="385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A mechanism to selectively remember important signals and forget noise.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857750" y="1684154"/>
            <a:ext cx="3714750" cy="3278981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B7A382D-72C9-3039-14FB-AE119CFC59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70" y="2495529"/>
            <a:ext cx="3627910" cy="17860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kern="0" spc="-2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INTRODUCING LSTM ARCHITECTURE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571500" y="1339453"/>
            <a:ext cx="4052460" cy="3804047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4623960" y="1339453"/>
            <a:ext cx="3948540" cy="380404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4623960" y="1339453"/>
            <a:ext cx="3948540" cy="57150"/>
          </a:xfrm>
          <a:prstGeom prst="rect">
            <a:avLst/>
          </a:prstGeom>
          <a:solidFill>
            <a:srgbClr val="C6F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4909710" y="1625203"/>
            <a:ext cx="337704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SPECIALIZED RNN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909710" y="1928813"/>
            <a:ext cx="3377040" cy="385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Designed specifically to overcome long-term dependency challenges in sequential data.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909710" y="2583135"/>
            <a:ext cx="337704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CORE INNOVATION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909710" y="2886745"/>
            <a:ext cx="3377040" cy="385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Introduces a memory cell that maintains its state over time, controlled by three gates.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909710" y="3541068"/>
            <a:ext cx="337704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SELECTIVE MEMORY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09710" y="3844677"/>
            <a:ext cx="3377040" cy="385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Learns to protect and update information through mathematical gating mechanisms.</a:t>
            </a:r>
            <a:endParaRPr lang="en-US" sz="11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9C004EC-184A-7C21-84B4-50EE4635D3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173" y="1932829"/>
            <a:ext cx="3787805" cy="27820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kern="0" spc="-2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GATE 1: THE FORGET GATE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571500" y="1339453"/>
            <a:ext cx="4286250" cy="380404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571500" y="1339453"/>
            <a:ext cx="4286250" cy="57150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7250" y="1625203"/>
            <a:ext cx="371475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SELECTIVE DISCARDING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57250" y="1928813"/>
            <a:ext cx="3714750" cy="385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Decides which information from the previous cell state is no longer relevant and should be removed.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57250" y="2583135"/>
            <a:ext cx="371475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SIGMOID ACTIVATION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7250" y="2886745"/>
            <a:ext cx="3714750" cy="385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Outputs a value between 0 (completely forget) and 1 (completely keep) for each number in the cell state.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57250" y="3541068"/>
            <a:ext cx="371475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INPUT PROCESSING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7250" y="3866108"/>
            <a:ext cx="2308324" cy="1876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Considers the previous hidden state (h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154004" y="3878889"/>
            <a:ext cx="94578" cy="1549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950" baseline="-4000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t-1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277520" y="3878889"/>
            <a:ext cx="537006" cy="1876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) and the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57250" y="4109442"/>
            <a:ext cx="932948" cy="1876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current input (x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789365" y="4109442"/>
            <a:ext cx="27252" cy="1549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950" baseline="-4000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821616" y="4109442"/>
            <a:ext cx="1308050" cy="1876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) to make its decision.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857750" y="1339453"/>
            <a:ext cx="3714750" cy="3804047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55C68D0-8005-6EEC-8B82-0DA556E160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5687" y="1625203"/>
            <a:ext cx="1594925" cy="30645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kern="0" spc="-2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GATE 2: THE INPUT GATE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571500" y="1339453"/>
            <a:ext cx="3714750" cy="380404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71500" y="1339453"/>
            <a:ext cx="3714750" cy="57150"/>
          </a:xfrm>
          <a:prstGeom prst="rect">
            <a:avLst/>
          </a:prstGeom>
          <a:solidFill>
            <a:srgbClr val="C6F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7250" y="1625203"/>
            <a:ext cx="314325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SELECTION LAYER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57250" y="1928813"/>
            <a:ext cx="3143250" cy="385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A sigmoid layer decides which values in the cell state will be updated (0 to 1).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57250" y="2583135"/>
            <a:ext cx="314325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CANDIDATE GENERATION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7250" y="2886745"/>
            <a:ext cx="3143250" cy="385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A tanh layer creates a vector of new candidate values to be added to the state.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57250" y="3541068"/>
            <a:ext cx="314325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STORAGE DECISION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7250" y="3844677"/>
            <a:ext cx="3143250" cy="385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Combines these two layers to determine exactly what new information is stored.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86250" y="1339453"/>
            <a:ext cx="4286250" cy="3804047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8E0D6BE-3B53-3D4B-30A2-C3EB1E0D80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1400" y="1516959"/>
            <a:ext cx="2029974" cy="34490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kern="0" spc="-2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GATE 3: THE OUTPUT GATE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571500" y="1339453"/>
            <a:ext cx="3948540" cy="380404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71500" y="1339453"/>
            <a:ext cx="3948540" cy="57150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7250" y="1625203"/>
            <a:ext cx="337704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FILTERING STATE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57250" y="1928813"/>
            <a:ext cx="3377040" cy="385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Decides what parts of the cell state are relevant for the current output.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57250" y="2583135"/>
            <a:ext cx="337704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SIGMOID LAYER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7250" y="2886745"/>
            <a:ext cx="3377040" cy="584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1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Uses the current input and previous hidden state to determine how much information from the cell state is output.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57250" y="3541068"/>
            <a:ext cx="337704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TANH TRANSFORMATION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7250" y="3844677"/>
            <a:ext cx="3377040" cy="385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1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The cell state is transformed using tanh, then filtered by the sigmoid to produce the hidden state.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20040" y="1339453"/>
            <a:ext cx="4052460" cy="3804047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CE8FD42-762C-1D63-FFF3-C943337019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6437" y="1792908"/>
            <a:ext cx="3246393" cy="29592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kern="0" spc="-2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WHY LSTM WINS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571500" y="1339453"/>
            <a:ext cx="2071688" cy="380404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71500" y="1339453"/>
            <a:ext cx="2071688" cy="57150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85813" y="1625203"/>
            <a:ext cx="1643063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PERSISTENT MEMORY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5813" y="2160984"/>
            <a:ext cx="1643063" cy="568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Successfully bridges long time gaps in data, retaining context where standard RNNs fail.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86063" y="1339453"/>
            <a:ext cx="3571875" cy="3804047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3261903" y="4380905"/>
            <a:ext cx="2620194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C6FF00"/>
                </a:solidFill>
                <a:ea typeface="Inter Bold" pitchFamily="34" charset="-122"/>
                <a:cs typeface="Inter Bold" pitchFamily="34" charset="-120"/>
              </a:rPr>
              <a:t>ROBUST ARCHITECTURE FOR COMPLEX TASKS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6500813" y="1339453"/>
            <a:ext cx="2071688" cy="380404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500813" y="1339453"/>
            <a:ext cx="2071688" cy="57150"/>
          </a:xfrm>
          <a:prstGeom prst="rect">
            <a:avLst/>
          </a:prstGeom>
          <a:solidFill>
            <a:srgbClr val="C6F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715125" y="1625203"/>
            <a:ext cx="1643063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SELECTIVE FOCUS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715125" y="1964531"/>
            <a:ext cx="1643063" cy="568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Intelligently ignores noise and retains key signals through its unique gating mechanism.</a:t>
            </a:r>
            <a:endParaRPr lang="en-US" sz="10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81D7BDD-F5AF-3057-462B-58FEEC206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016" y="2248903"/>
            <a:ext cx="3475968" cy="19044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812C24285FA346AD3F70B3FFD32705" ma:contentTypeVersion="10" ma:contentTypeDescription="Create a new document." ma:contentTypeScope="" ma:versionID="81e8a5773a57807bf4b696b7eae25795">
  <xsd:schema xmlns:xsd="http://www.w3.org/2001/XMLSchema" xmlns:xs="http://www.w3.org/2001/XMLSchema" xmlns:p="http://schemas.microsoft.com/office/2006/metadata/properties" xmlns:ns2="5994b4ae-926e-4a44-b497-c986ec72bd6f" xmlns:ns3="55a2a44f-2c6c-4737-b2c4-b0c2d95e7e73" targetNamespace="http://schemas.microsoft.com/office/2006/metadata/properties" ma:root="true" ma:fieldsID="ab41e21804e6f03b1d9cef1dc77e244a" ns2:_="" ns3:_="">
    <xsd:import namespace="5994b4ae-926e-4a44-b497-c986ec72bd6f"/>
    <xsd:import namespace="55a2a44f-2c6c-4737-b2c4-b0c2d95e7e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94b4ae-926e-4a44-b497-c986ec72bd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b10c9dd7-4a39-4251-aab3-b81fdc61ee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a2a44f-2c6c-4737-b2c4-b0c2d95e7e7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3b26efb-fcd4-4e13-8302-112b5dfb7251}" ma:internalName="TaxCatchAll" ma:showField="CatchAllData" ma:web="55a2a44f-2c6c-4737-b2c4-b0c2d95e7e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5a2a44f-2c6c-4737-b2c4-b0c2d95e7e73" xsi:nil="true"/>
    <lcf76f155ced4ddcb4097134ff3c332f xmlns="5994b4ae-926e-4a44-b497-c986ec72bd6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275AD6B-C75E-43D6-899C-B4DAFC9E05C0}"/>
</file>

<file path=customXml/itemProps2.xml><?xml version="1.0" encoding="utf-8"?>
<ds:datastoreItem xmlns:ds="http://schemas.openxmlformats.org/officeDocument/2006/customXml" ds:itemID="{097A4D98-B16A-4EF8-824C-6E19819430C8}"/>
</file>

<file path=customXml/itemProps3.xml><?xml version="1.0" encoding="utf-8"?>
<ds:datastoreItem xmlns:ds="http://schemas.openxmlformats.org/officeDocument/2006/customXml" ds:itemID="{8EAB8B44-0216-4B83-8580-6E2993816C1D}"/>
</file>

<file path=docMetadata/LabelInfo.xml><?xml version="1.0" encoding="utf-8"?>
<clbl:labelList xmlns:clbl="http://schemas.microsoft.com/office/2020/mipLabelMetadata">
  <clbl:label id="{dd2e4901-b5ad-42ae-9e9d-f456e52148af}" enabled="1" method="Privileged" siteId="{3b07dc1f-22e7-4be1-ac66-a88bf355022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360</Words>
  <Application>Microsoft Office PowerPoint</Application>
  <PresentationFormat>On-screen Show (16:9)</PresentationFormat>
  <Paragraphs>55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Inter Black</vt:lpstr>
      <vt:lpstr>Inter Bold</vt:lpstr>
      <vt:lpstr>Inter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Bhandari, Miraj</cp:lastModifiedBy>
  <cp:revision>16</cp:revision>
  <dcterms:created xsi:type="dcterms:W3CDTF">2026-07-15T15:28:44Z</dcterms:created>
  <dcterms:modified xsi:type="dcterms:W3CDTF">2026-07-15T16:14:49Z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0x0101005E812C24285FA346AD3F70B3FFD32705</vt:lpwstr>
  </property>
</Properties>
</file>