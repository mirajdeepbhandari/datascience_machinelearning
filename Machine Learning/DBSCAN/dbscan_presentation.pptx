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0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12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https://www.youtube.com/shorts/_iUl81_2BmQ</a:t>
            </a:r>
          </a:p>
        </p:txBody>
      </p:sp>
    </p:spTree>
    <p:extLst>
      <p:ext uri="{BB962C8B-B14F-4D97-AF65-F5344CB8AC3E}">
        <p14:creationId xmlns:p14="http://schemas.microsoft.com/office/powerpoint/2010/main" val="3285597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66665"/>
            <a:ext cx="85725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150" b="1" kern="0" spc="13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DBSCAN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571500" y="2923915"/>
            <a:ext cx="85725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D5A27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Simplifying Complex Data Clustering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000625" y="2564606"/>
            <a:ext cx="3571875" cy="1857375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172075" y="3213264"/>
            <a:ext cx="32289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Density-Based Spatial Clustering of Applications with Noise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73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8782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kern="0" spc="4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CORE CONCEPT: DENSITY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71500" y="1647109"/>
            <a:ext cx="3571875" cy="3926105"/>
          </a:xfrm>
          <a:prstGeom prst="rect">
            <a:avLst/>
          </a:prstGeom>
          <a:solidFill>
            <a:srgbClr val="9B5DE5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8688" y="2175746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DBSCAN identifies clusters based on how </a:t>
            </a:r>
            <a:r>
              <a:rPr lang="en-US" sz="1200" b="1" dirty="0">
                <a:solidFill>
                  <a:srgbClr val="FF9F1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densely</a:t>
            </a:r>
            <a:r>
              <a:rPr lang="en-US" sz="12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data points are packed.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28688" y="3170123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Epsilon (ε):</a:t>
            </a:r>
            <a:r>
              <a:rPr lang="en-US" sz="12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The maximum radius around a point to look for neighbors.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8688" y="4164499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MinPts:</a:t>
            </a:r>
            <a:r>
              <a:rPr lang="en-US" sz="12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The minimum number of points required within Epsilon to form a cluster.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43438" y="1647109"/>
            <a:ext cx="3929063" cy="2857500"/>
          </a:xfrm>
          <a:prstGeom prst="rect">
            <a:avLst/>
          </a:prstGeom>
          <a:solidFill>
            <a:srgbClr val="FFFFFF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789984"/>
            <a:ext cx="3843338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09716" y="105050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kern="0" spc="4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THREE TYPES OF DATA POINTS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79131" y="2191184"/>
            <a:ext cx="2500313" cy="2857500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54" y="2653647"/>
            <a:ext cx="428625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696" y="3134795"/>
            <a:ext cx="140196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Core Points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05323" y="3512141"/>
            <a:ext cx="2071688" cy="56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 core point has at least </a:t>
            </a:r>
            <a:r>
              <a:rPr lang="en-US" sz="1050" dirty="0" err="1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MinPts</a:t>
            </a:r>
            <a:r>
              <a:rPr lang="en-US" sz="10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points (including itself) within a distance of eps (ε).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660870" y="2170009"/>
            <a:ext cx="2500313" cy="2857500"/>
          </a:xfrm>
          <a:prstGeom prst="rect">
            <a:avLst/>
          </a:prstGeom>
          <a:solidFill>
            <a:srgbClr val="9B5DE5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866" y="2392625"/>
            <a:ext cx="375047" cy="428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37308" y="2995492"/>
            <a:ext cx="167520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Border Points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875182" y="3551454"/>
            <a:ext cx="2071688" cy="1150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A border point:</a:t>
            </a:r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Has fewer than </a:t>
            </a:r>
            <a:r>
              <a:rPr lang="en-US" sz="1050" dirty="0" err="1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MinPts</a:t>
            </a: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 neighbors within ε.</a:t>
            </a:r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But lies within ε of a core point.</a:t>
            </a:r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So, it belongs to a cluster but cannot expand the cluster.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242609" y="2592727"/>
            <a:ext cx="2223666" cy="2445723"/>
          </a:xfrm>
          <a:prstGeom prst="roundRect">
            <a:avLst/>
          </a:prstGeom>
          <a:solidFill>
            <a:srgbClr val="FFFFFF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708" y="2653647"/>
            <a:ext cx="428625" cy="4286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37621" y="3143192"/>
            <a:ext cx="151983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Noise Points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449594" y="3559848"/>
            <a:ext cx="1857655" cy="77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Points that are neither Core nor Border. These are identified as outliers or background noise.</a:t>
            </a:r>
            <a:endParaRPr lang="en-US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FF7A6-BFCD-3108-9033-BB7FF4B23B21}"/>
              </a:ext>
            </a:extLst>
          </p:cNvPr>
          <p:cNvSpPr txBox="1"/>
          <p:nvPr/>
        </p:nvSpPr>
        <p:spPr>
          <a:xfrm>
            <a:off x="254863" y="4141865"/>
            <a:ext cx="21488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/>
              <a:t>If </a:t>
            </a:r>
            <a:r>
              <a:rPr lang="en-US" sz="1100" b="1" dirty="0" err="1">
                <a:latin typeface="Courier New" panose="02070309020205020404" pitchFamily="49" charset="0"/>
              </a:rPr>
              <a:t>MinPts</a:t>
            </a:r>
            <a:r>
              <a:rPr lang="en-US" sz="1100" b="1" dirty="0">
                <a:latin typeface="Courier New" panose="02070309020205020404" pitchFamily="49" charset="0"/>
              </a:rPr>
              <a:t> = 5</a:t>
            </a:r>
            <a:r>
              <a:rPr lang="en-US" sz="1100" dirty="0"/>
              <a:t>, then a point is a core point if there are </a:t>
            </a:r>
            <a:r>
              <a:rPr lang="en-US" sz="1100" b="1" dirty="0"/>
              <a:t>5 or more points</a:t>
            </a:r>
            <a:r>
              <a:rPr lang="en-US" sz="1100" dirty="0"/>
              <a:t> (including itself) within ε distance.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A4BDED9-3E21-FFC6-1F69-EAFFB94DE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443" y="541342"/>
            <a:ext cx="3107664" cy="18512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29EF117-61EB-CF25-7D73-7B5A2BE51987}"/>
              </a:ext>
            </a:extLst>
          </p:cNvPr>
          <p:cNvSpPr txBox="1"/>
          <p:nvPr/>
        </p:nvSpPr>
        <p:spPr>
          <a:xfrm>
            <a:off x="374870" y="8077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https://clustering-visualizer.web.app/dbscan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bscan">
            <a:hlinkClick r:id="" action="ppaction://media"/>
            <a:extLst>
              <a:ext uri="{FF2B5EF4-FFF2-40B4-BE49-F238E27FC236}">
                <a16:creationId xmlns:a16="http://schemas.microsoft.com/office/drawing/2014/main" id="{9B79573F-0163-C496-21C0-006D531D2D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635" y="33545"/>
            <a:ext cx="9008386" cy="506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4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2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8782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kern="0" spc="4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WHY CHOOSE DBSCAN?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71500" y="1647109"/>
            <a:ext cx="3857625" cy="1549105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85813" y="2165728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 PREDEFINED CLUSTERS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5813" y="2574708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Unlike K-Means, you don't need to specify the number of clusters (K) in advance. It discovers them automatically.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714875" y="1647109"/>
            <a:ext cx="3857625" cy="1549105"/>
          </a:xfrm>
          <a:prstGeom prst="rect">
            <a:avLst/>
          </a:prstGeom>
          <a:solidFill>
            <a:srgbClr val="9B5DE5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29188" y="2105565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HANDLES IRREGULAR SHAPES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29188" y="2514544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It can identify clusters of any shape—circular, elongated, or even nested—where distance-based methods fail.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3361609"/>
            <a:ext cx="3857625" cy="1549105"/>
          </a:xfrm>
          <a:prstGeom prst="rect">
            <a:avLst/>
          </a:prstGeom>
          <a:solidFill>
            <a:srgbClr val="FFFFFF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5813" y="3820065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ROBUST TO OUTLIERS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5813" y="4229044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DBSCAN is naturally resistant to noise. It labels isolated points as "noise" rather than forcing them into a cluster.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14875" y="3361609"/>
            <a:ext cx="3857625" cy="1428750"/>
          </a:xfrm>
          <a:prstGeom prst="rect">
            <a:avLst/>
          </a:prstGeom>
          <a:solidFill>
            <a:srgbClr val="2D5A27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29188" y="3820065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SCALABLE PERFORMANCE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29188" y="4229044"/>
            <a:ext cx="3429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Highly efficient for large spatial databases, making it a go-to choice for real-world big data applications.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8782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kern="0" spc="4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WHERE IS DBSCAN USED?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714375" y="1285875"/>
            <a:ext cx="2286000" cy="1428750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92969" y="1459836"/>
            <a:ext cx="192881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2969" y="2077771"/>
            <a:ext cx="192881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Identifying fraudulent transactions or network intrusions by spotting isolated noise points.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2286000" y="2000250"/>
            <a:ext cx="571500" cy="571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71875" y="1071563"/>
            <a:ext cx="2428875" cy="1571625"/>
          </a:xfrm>
          <a:prstGeom prst="rect">
            <a:avLst/>
          </a:prstGeom>
          <a:solidFill>
            <a:srgbClr val="9B5DE5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750469" y="1511433"/>
            <a:ext cx="20716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SATELLITE IMAGERY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750469" y="1920413"/>
            <a:ext cx="207168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Grouping similar geographical features or urban areas based on pixel density and proximity.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5286375" y="1928813"/>
            <a:ext cx="571500" cy="571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92981" y="3278981"/>
            <a:ext cx="2500313" cy="1500188"/>
          </a:xfrm>
          <a:prstGeom prst="rect">
            <a:avLst/>
          </a:prstGeom>
          <a:solidFill>
            <a:srgbClr val="FFFFFF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171575" y="3683133"/>
            <a:ext cx="2143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71575" y="4092113"/>
            <a:ext cx="21431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Finding groups of users with similar niche interests without assuming the number of groups.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2778919" y="4064794"/>
            <a:ext cx="571500" cy="5715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357813" y="2857500"/>
            <a:ext cx="2357438" cy="1643063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5536406" y="3333090"/>
            <a:ext cx="20002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NATURAL SCIENCES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536406" y="3742069"/>
            <a:ext cx="20002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Clustering stars in astronomy or grouping complex biological data in genetics.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7000875" y="3786188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7" dirty="0">
                <a:solidFill>
                  <a:srgbClr val="2D5A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SUMMARY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1714500" y="1571625"/>
            <a:ext cx="5715000" cy="2857500"/>
          </a:xfrm>
          <a:prstGeom prst="rect">
            <a:avLst/>
          </a:prstGeom>
          <a:solidFill>
            <a:srgbClr val="FF9F1C"/>
          </a:solidFill>
          <a:ln w="45720">
            <a:solidFill>
              <a:srgbClr val="2D5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532" y="2257481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63713" y="2230692"/>
            <a:ext cx="432375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Discover patterns without prior assumptions.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838" y="2720373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28020" y="2693584"/>
            <a:ext cx="9376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Focus on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3665637" y="2693584"/>
            <a:ext cx="6929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density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358580" y="2693584"/>
            <a:ext cx="23645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rather than distance to a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246066" y="3013602"/>
            <a:ext cx="6518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center.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312" y="3503284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15493" y="3476495"/>
            <a:ext cx="442019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Ideal for messy, irregular, and noisy real-world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346079" y="3796512"/>
            <a:ext cx="4518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ora Medium" pitchFamily="34" charset="0"/>
                <a:ea typeface="Lora Medium" pitchFamily="34" charset="-122"/>
                <a:cs typeface="Lora Medium" pitchFamily="34" charset="-120"/>
              </a:rPr>
              <a:t>data.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387</Words>
  <Application>Microsoft Office PowerPoint</Application>
  <PresentationFormat>On-screen Show (16:9)</PresentationFormat>
  <Paragraphs>52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Courier New</vt:lpstr>
      <vt:lpstr>Lora Medium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5</cp:revision>
  <dcterms:created xsi:type="dcterms:W3CDTF">2026-06-27T16:20:06Z</dcterms:created>
  <dcterms:modified xsi:type="dcterms:W3CDTF">2026-06-27T16:41:30Z</dcterms:modified>
</cp:coreProperties>
</file>