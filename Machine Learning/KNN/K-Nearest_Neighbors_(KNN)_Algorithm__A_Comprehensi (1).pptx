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7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1293019"/>
            <a:ext cx="7596178" cy="2557463"/>
          </a:xfrm>
          <a:prstGeom prst="rect">
            <a:avLst/>
          </a:prstGeom>
          <a:solidFill>
            <a:srgbClr val="FFFFFF">
              <a:alpha val="50000"/>
            </a:srgbClr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3897" y="1934449"/>
            <a:ext cx="759617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K-NEAREST NEIGHBORS (KNN) ALGORITHM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02914" y="3011705"/>
            <a:ext cx="493811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Comprehensive Overview of Fundamentals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293144" y="3442115"/>
            <a:ext cx="4557685" cy="23031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Miraj Deep Bhandari | June 22,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09158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// WHAT IS K-NEAREST NEIGHBORS?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00038" y="1281103"/>
            <a:ext cx="452196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is a versatile, non-parametric, and "lazy" learning algorithm used primarily for classification. It predicts labels based on the similarity of new instances to the existing training data.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2234012"/>
            <a:ext cx="42707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NON-PARAMETRIC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2416178"/>
            <a:ext cx="4270763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stores training data and predicts using nearby points, without training weights or a fixed model.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3084119"/>
            <a:ext cx="42707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LAZY LEARNER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3266284"/>
            <a:ext cx="4270763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does not learn during training; it learns when making predictions.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3934225"/>
            <a:ext cx="42707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INSTANCE-BASED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4116391"/>
            <a:ext cx="4270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Relies entirely on stored training instances for decision making.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60920" y="4241881"/>
            <a:ext cx="133945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VISUALIZING FEATURE SPACE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07193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// THE CORE PRINCIPLE: PROXIMITY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3897" y="1223953"/>
            <a:ext cx="7596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"Similar things exist in close proximity."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73897" y="1595428"/>
            <a:ext cx="7596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assumes that data points of the same category will be </a:t>
            </a:r>
            <a:r>
              <a:rPr lang="en-US" sz="10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near each other</a:t>
            </a: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 the feature space.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4288" y="2145497"/>
            <a:ext cx="9115425" cy="29837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288" y="2145497"/>
            <a:ext cx="9115425" cy="714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1C88A9-F21F-FA46-C2EA-4059C3820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827" y="2196857"/>
            <a:ext cx="4663422" cy="26544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335041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// ALGORITHMIC WORKFLOW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07181" y="1088222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07181" y="159721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SELECT K VALUE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7181" y="1922255"/>
            <a:ext cx="361900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Determine the number of nearest neighbors to consider. This choice significantly impacts the model's sensitivity to noise.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" y="279437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64894" y="1088222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864894" y="159721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CALCULATE DISTANCE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64894" y="1922255"/>
            <a:ext cx="361900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Compute the distance between the new query point and all training data points using metrics like Euclidean or Manhattan.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2794378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7181" y="3219431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307181" y="372842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IDENTIFY NEIGHBORS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07181" y="4053464"/>
            <a:ext cx="36190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Sort the calculated distances and select the top 'K' instances that are closest to the new data point.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81" y="4925616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64894" y="3219431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4864894" y="372842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VOTE OR AVERAGE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64894" y="4053464"/>
            <a:ext cx="36190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 the class by majority vote (Classification) or calculate the mean value of neighbors (Regression).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894" y="4925616"/>
            <a:ext cx="192881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53149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 // MEASURING SIMILARITY: DISTANCE METRICS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03083" y="1081078"/>
            <a:ext cx="10537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EUCLIDEAN (L2)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44435" y="1370400"/>
            <a:ext cx="2370999" cy="4179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44435" y="1370400"/>
            <a:ext cx="2370999" cy="41790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 = √Σ(xᵢ - yᵢ)²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8600" y="1902609"/>
            <a:ext cx="260269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BEST FOR:</a:t>
            </a:r>
            <a:r>
              <a:rPr lang="en-US" sz="7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Low-dimensional data where straight-line distance is meaningful.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005830" y="1081078"/>
            <a:ext cx="112514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MANHATTAN (L1)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2900" y="1370400"/>
            <a:ext cx="2370999" cy="4179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82900" y="1370400"/>
            <a:ext cx="2370999" cy="41790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 = Σ|xᵢ - yᵢ|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67066" y="1902609"/>
            <a:ext cx="260269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BEST FOR:</a:t>
            </a:r>
            <a:r>
              <a:rPr lang="en-US" sz="7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High-dimensional data or features with different scales.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063076" y="1081078"/>
            <a:ext cx="109478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MINKOWSKI (LP)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21729" y="1370400"/>
            <a:ext cx="2377446" cy="4179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1729" y="1370400"/>
            <a:ext cx="2377446" cy="41790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 = (Σ|xᵢ - yᵢ|ᵖ)¹/ᵖ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5531" y="1902609"/>
            <a:ext cx="26098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GENERALIZATION:</a:t>
            </a:r>
            <a:r>
              <a:rPr lang="en-US" sz="7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p=1 is Manhattan, p=2 is Euclidean.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4288" y="2997975"/>
            <a:ext cx="9115425" cy="21312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3063469"/>
            <a:ext cx="20002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3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7010"/>
            <a:ext cx="480774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 // CASE STUDY: MOVIE GENRE PREDICTION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3897" y="1232297"/>
            <a:ext cx="7596178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 aim to predict the genre of a new movie based on its </a:t>
            </a:r>
            <a:r>
              <a:rPr lang="en-US" sz="10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IMDb Rating</a:t>
            </a: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</a:t>
            </a:r>
            <a:r>
              <a:rPr lang="en-US" sz="10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</a:t>
            </a: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using the following training dataset: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73897" y="1878806"/>
            <a:ext cx="7596178" cy="17787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3897" y="1878806"/>
            <a:ext cx="2485885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3897" y="1878806"/>
            <a:ext cx="2485885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MOVIE TITLE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59782" y="1878806"/>
            <a:ext cx="1724295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59782" y="1878806"/>
            <a:ext cx="1724295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IMDb RATING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84077" y="1878806"/>
            <a:ext cx="2080366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84077" y="1878806"/>
            <a:ext cx="2080366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DURATION (MIN)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064443" y="1878806"/>
            <a:ext cx="1305632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64443" y="1878806"/>
            <a:ext cx="1305632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GENRE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3897" y="2257425"/>
            <a:ext cx="2485885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Mission Impossible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59782" y="2257425"/>
            <a:ext cx="1724295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7.8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84077" y="2257425"/>
            <a:ext cx="2080366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64443" y="2257425"/>
            <a:ext cx="1305632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3897" y="2594967"/>
            <a:ext cx="248588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Gadar 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259782" y="2594967"/>
            <a:ext cx="172429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6.2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84077" y="2594967"/>
            <a:ext cx="2080366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170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64443" y="2594967"/>
            <a:ext cx="1305632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3897" y="2936081"/>
            <a:ext cx="248588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Rocky &amp; Rani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59782" y="2936081"/>
            <a:ext cx="172429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6.9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84077" y="2936081"/>
            <a:ext cx="2080366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168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064443" y="2936081"/>
            <a:ext cx="1305632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10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COMEDY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3897" y="3277195"/>
            <a:ext cx="248588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OMG 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59782" y="3277195"/>
            <a:ext cx="172429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8.0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84077" y="3277195"/>
            <a:ext cx="2080366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155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064443" y="3277195"/>
            <a:ext cx="1305632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10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COMEDY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4288" y="3887986"/>
            <a:ext cx="9115425" cy="1291233"/>
          </a:xfrm>
          <a:prstGeom prst="rect">
            <a:avLst/>
          </a:prstGeom>
          <a:solidFill>
            <a:srgbClr val="FF5252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4288" y="3887986"/>
            <a:ext cx="9115425" cy="714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85788" y="4424660"/>
            <a:ext cx="1109067" cy="217884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85788" y="4424660"/>
            <a:ext cx="1109067" cy="217884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NEW DATA POINT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980605" y="4426446"/>
            <a:ext cx="6411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907506" y="4426446"/>
            <a:ext cx="8554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Rating: 7.4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048720" y="4426446"/>
            <a:ext cx="144482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Duration: 114 min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779294" y="4426446"/>
            <a:ext cx="6643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Genre: 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77559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06 // STEP-BY-STEP: DISTANCE CALCULATION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4288" y="866766"/>
            <a:ext cx="9115425" cy="852478"/>
          </a:xfrm>
          <a:prstGeom prst="rect">
            <a:avLst/>
          </a:prstGeom>
          <a:solidFill>
            <a:srgbClr val="FFC10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4288" y="1712100"/>
            <a:ext cx="9115425" cy="714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39441" y="1156367"/>
            <a:ext cx="6665119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Euclidean Distance: √[(Rating₁ - Rating₂)² + (Duration₁ - Duration₂)²]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7181" y="1940700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07181" y="2101435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MISSION IMPOSSIBLE (7.8, 163)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7181" y="2337178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√[(7.8 - 7.4)² + (163 - 114)²]
√[0.4² + 49²] = √[0.16 + 2401]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07181" y="2820051"/>
            <a:ext cx="889620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49.00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64894" y="1940700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864894" y="2101435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GADAR 2 (6.2, 170)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64894" y="2337178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√[(6.2 - 7.4)² + (170 - 114)²]
√[(-1.2)² + 56²] = √[1.44 + 3136]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64894" y="2820051"/>
            <a:ext cx="887834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56.02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07181" y="3645684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07181" y="3806419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ROCKY &amp; RANI (6.9, 168)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7181" y="4042163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√[(6.9 - 7.4)² + (168 - 114)²]
√[(-0.5)² + 54²] = √[0.25 + 2916]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07181" y="4525035"/>
            <a:ext cx="871761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54.01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4894" y="3645684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64894" y="3806419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OMG 2 (8.0, 155)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64894" y="4042163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√[(8.0 - 7.4)² + (155 - 114)²]
√[0.6² + 41²] = √[0.36 + 1681]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64894" y="4525035"/>
            <a:ext cx="878904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41.00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50937"/>
            <a:ext cx="389691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07 // FINAL PREDICTION: K=1 VS. K=3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85750" y="1071563"/>
            <a:ext cx="213240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 = 1 (NEAREST NEIGHBOR)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85750" y="1553766"/>
            <a:ext cx="3993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Assigns the class of the single closest data point.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07194" y="2003822"/>
            <a:ext cx="10733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OMG 2 (Dist: 41.0)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698677" y="2006501"/>
            <a:ext cx="458986" cy="137517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98677" y="2006501"/>
            <a:ext cx="458986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COMEDY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85750" y="2396728"/>
            <a:ext cx="3993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Prediction: </a:t>
            </a:r>
            <a:r>
              <a:rPr lang="en-US" sz="800" b="1" dirty="0">
                <a:solidFill>
                  <a:srgbClr val="FFC10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COMEDY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857750" y="1071563"/>
            <a:ext cx="186809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 = 3 (MAJORITY VOTE)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57750" y="1553766"/>
            <a:ext cx="400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Assigns the class based on the most frequent label among 3 neighbors.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79194" y="2003822"/>
            <a:ext cx="10733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OMG 2 (Dist: 41.0)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277820" y="2006501"/>
            <a:ext cx="458986" cy="137517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77820" y="2006501"/>
            <a:ext cx="458986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COMEDY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979194" y="2532459"/>
            <a:ext cx="17948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Mission Impossible (Dist: 49.0)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327827" y="2535138"/>
            <a:ext cx="408980" cy="137517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7827" y="2535138"/>
            <a:ext cx="408980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ACTION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979194" y="3061097"/>
            <a:ext cx="14733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Rocky &amp; Rani (Dist: 54.0)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277820" y="3063776"/>
            <a:ext cx="458986" cy="137517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77820" y="3063776"/>
            <a:ext cx="458986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COMEDY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857750" y="3411141"/>
            <a:ext cx="400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Vote: 2 Comedy vs 1 Action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3857625"/>
            <a:ext cx="9144000" cy="1285875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0" y="3857625"/>
            <a:ext cx="9144000" cy="21431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105745" y="4173736"/>
            <a:ext cx="2932509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BARBIE = COMEDY</a:t>
            </a:r>
            <a:endParaRPr lang="en-US" sz="2450" dirty="0"/>
          </a:p>
        </p:txBody>
      </p:sp>
      <p:sp>
        <p:nvSpPr>
          <p:cNvPr id="25" name="Text 22"/>
          <p:cNvSpPr/>
          <p:nvPr/>
        </p:nvSpPr>
        <p:spPr>
          <a:xfrm>
            <a:off x="2251174" y="4647009"/>
            <a:ext cx="4641652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Consensus reached across both K values based on feature proximity.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30232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08 // ADVANTAGES AND DISADVANTAGES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1347183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8644" y="1323966"/>
            <a:ext cx="105191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300038" y="1756163"/>
            <a:ext cx="3979069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42913" y="1963331"/>
            <a:ext cx="3693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SIMPLICITY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42913" y="2184788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Extremely easy to understand and implement. Requires minimal hyperparameter tuning beyond 'K'.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00038" y="2720569"/>
            <a:ext cx="3979069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42913" y="2927738"/>
            <a:ext cx="3693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 TRAINING PHASE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42913" y="3149194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 a "Lazy Learner," it doesn't require a training period, making it instantly ready for new data.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00038" y="3684975"/>
            <a:ext cx="3979069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2913" y="3892144"/>
            <a:ext cx="3693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NON-PARAMETRIC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2913" y="4113600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Makes no assumptions about data distribution, allowing it to handle complex decision boundaries.</a:t>
            </a:r>
            <a:endParaRPr lang="en-US" sz="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347183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6356" y="1323966"/>
            <a:ext cx="1314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57750" y="1756163"/>
            <a:ext cx="3986213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000625" y="1963331"/>
            <a:ext cx="37004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COMPUTATIONAL COST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00625" y="2184788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Slow for large datasets as it calculates distances to every training point for each prediction.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857750" y="2720569"/>
            <a:ext cx="3986213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000625" y="2927738"/>
            <a:ext cx="37004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MEMORY INTENSIVE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00625" y="3149194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Requires storing the entire training dataset in memory, which can be prohibitive for big data.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857750" y="3684975"/>
            <a:ext cx="3986213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000625" y="3892144"/>
            <a:ext cx="37004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CURSE OF DIMENSIONALITY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000625" y="4113600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Performance degrades significantly as the number of features increases (high-dimensional space).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353079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 // REAL-WORLD APPLICATIONS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19" y="1159659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1193592"/>
            <a:ext cx="232529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RECOMMENDATION SYSTEMS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78619" y="158828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Finding similar users or items based on preferences. Used by platforms like Netflix or Amazon to suggest content.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78619" y="2721155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COLLABORATIVE FILTERING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331" y="1159659"/>
            <a:ext cx="321469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00675" y="1193592"/>
            <a:ext cx="163413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IMAGE RECOGNITION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36331" y="158828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Classifying images or identifying objects by comparing pixel intensity patterns to a labeled database.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936331" y="2721155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COMPUTER VISION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9" y="3290869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7244" y="3324802"/>
            <a:ext cx="170914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78619" y="371949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Identifying unusual data points that are far from any cluster of neighbors, useful in credit card fraud detection.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378619" y="4852392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&amp; FINANCE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331" y="3290869"/>
            <a:ext cx="321469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00675" y="3324802"/>
            <a:ext cx="10269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36331" y="371949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Predicting patient outcomes or disease risk by finding patients with similar clinical profiles and histories.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4936331" y="4852392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CLINICAL DIAGNOSTICS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393620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 // SUMMARY AND KEY TAKEAWAYS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3897" y="1293019"/>
            <a:ext cx="7596178" cy="1278731"/>
          </a:xfrm>
          <a:prstGeom prst="rect">
            <a:avLst/>
          </a:prstGeom>
          <a:solidFill>
            <a:srgbClr val="FFFFFF">
              <a:alpha val="50000"/>
            </a:srgbClr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533506" y="1765232"/>
            <a:ext cx="607693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is a fundamental "Lazy Learning" algorithm that leverages the power of proximity to make intuitive and effective predictions.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0038" y="3219431"/>
            <a:ext cx="245982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SIMPLICITY &amp; FLEXIBILITY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0038" y="3490894"/>
            <a:ext cx="24598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Easy to implement and understand. Being non-parametric, it adapts to various data distributions without prior assumptions.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338503" y="3219431"/>
            <a:ext cx="245982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CRITICAL PARAMETERS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338503" y="3490894"/>
            <a:ext cx="24598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choice of 'K' and the distance metric (Euclidean vs. Manhattan) are the primary levers for tuning model performance.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76969" y="3219431"/>
            <a:ext cx="24669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OPERATIONAL COSTS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76969" y="3490894"/>
            <a:ext cx="24669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While simple, KNN is memory-intensive and computationally expensive for large datasets, requiring careful feature scaling.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7" ma:contentTypeDescription="Create a new document." ma:contentTypeScope="" ma:versionID="ceecb4a962af8e9eefb3c1d49760df3a">
  <xsd:schema xmlns:xsd="http://www.w3.org/2001/XMLSchema" xmlns:xs="http://www.w3.org/2001/XMLSchema" xmlns:p="http://schemas.microsoft.com/office/2006/metadata/properties" xmlns:ns2="5994b4ae-926e-4a44-b497-c986ec72bd6f" targetNamespace="http://schemas.microsoft.com/office/2006/metadata/properties" ma:root="true" ma:fieldsID="e6be5678d177d8f450c7578788bdb227" ns2:_="">
    <xsd:import namespace="5994b4ae-926e-4a44-b497-c986ec72bd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0AD28E-1DAA-4472-8291-41BD05B6FB2B}"/>
</file>

<file path=customXml/itemProps2.xml><?xml version="1.0" encoding="utf-8"?>
<ds:datastoreItem xmlns:ds="http://schemas.openxmlformats.org/officeDocument/2006/customXml" ds:itemID="{64738422-F6BE-4D67-B612-931406A37E60}"/>
</file>

<file path=customXml/itemProps3.xml><?xml version="1.0" encoding="utf-8"?>
<ds:datastoreItem xmlns:ds="http://schemas.openxmlformats.org/officeDocument/2006/customXml" ds:itemID="{97B4BB50-CCD0-4F19-9560-EC906726D9D5}"/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1029</Words>
  <Application>Microsoft Office PowerPoint</Application>
  <PresentationFormat>On-screen Show (16:9)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Merriweather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6</cp:revision>
  <dcterms:created xsi:type="dcterms:W3CDTF">2026-06-22T16:07:17Z</dcterms:created>
  <dcterms:modified xsi:type="dcterms:W3CDTF">2026-06-23T16:30:23Z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