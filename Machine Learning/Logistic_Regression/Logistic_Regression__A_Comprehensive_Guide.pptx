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265" r:id="rId7"/>
    <p:sldId id="266" r:id="rId8"/>
    <p:sldId id="268" r:id="rId9"/>
    <p:sldId id="269" r:id="rId10"/>
    <p:sldId id="270" r:id="rId11"/>
    <p:sldId id="271" r:id="rId12"/>
    <p:sldId id="261" r:id="rId13"/>
    <p:sldId id="262" r:id="rId14"/>
    <p:sldId id="263" r:id="rId15"/>
    <p:sldId id="26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38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739F-6C85-E169-E1FC-92A5E3C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AD333-42CB-D15D-D0AD-1283E909E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559F2-FEE5-C03B-E674-2D8CDF436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75E83-D6C6-985E-3F63-B60A184F6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22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E72B-F2AF-39F9-0B15-F7C1F190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7B7AE-1C3F-E8DB-65EA-7FD1CF7E7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4F34D-B05B-0DC0-BDC4-F53A1DC05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10066-F173-4EEE-176E-FCFEF19DC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1F116-66C1-65C1-9856-2AF61A33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D3BBD-F81F-8311-C5D9-EA485494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25C2D-4D19-8CAF-EBF3-632AA4DB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700F-05BB-CD77-836B-A765B287B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92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34208" y="1475184"/>
            <a:ext cx="46755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50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1714500" y="2118122"/>
            <a:ext cx="57150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Fundamental Machine Learning Model for Binary Classification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531" y="3000375"/>
            <a:ext cx="642938" cy="57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1A8615-E39F-CCA5-FA4F-B34774993D53}"/>
              </a:ext>
            </a:extLst>
          </p:cNvPr>
          <p:cNvSpPr txBox="1"/>
          <p:nvPr/>
        </p:nvSpPr>
        <p:spPr>
          <a:xfrm>
            <a:off x="1305017" y="4166586"/>
            <a:ext cx="24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By- Miraj Deep Bhandari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Logistic Regression?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85775" y="1189434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85775" y="1469827"/>
            <a:ext cx="4000500" cy="604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statistical method specifically designed for </a:t>
            </a:r>
            <a:r>
              <a:rPr lang="en-US" sz="10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classification</a:t>
            </a: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tasks where the target variable has two categories. 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5775" y="2369939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Binary Classification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85775" y="2650331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an outcome that belongs to one of two classes, such as 0 or 1, True or False, or Yes or No.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5775" y="3321844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Probability Estimation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5775" y="3602236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core goal is to predict the </a:t>
            </a:r>
            <a:r>
              <a:rPr lang="en-US" sz="10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probability</a:t>
            </a: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a given input instance belongs to a specific category.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72025" y="1189434"/>
            <a:ext cx="4000500" cy="4011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72025" y="1189434"/>
            <a:ext cx="4000500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590502"/>
            <a:ext cx="857250" cy="857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13239" y="3590627"/>
            <a:ext cx="171807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 vs 1 Classification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Real-World Applications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117997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5775" y="1117997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572" y="1501973"/>
            <a:ext cx="428625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50231" y="2037755"/>
            <a:ext cx="13073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Email Filtering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85775" y="2318147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Classifying incoming messages as "Spam" or "Not Spam" based on content features.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36306" y="1117997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736306" y="1117997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103" y="1501973"/>
            <a:ext cx="428625" cy="42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56102" y="2037755"/>
            <a:ext cx="15966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Financial Security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736306" y="2318147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Detecting "Fraudulent" vs. "Legitimate" transactions in real-time.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85775" y="3266480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85775" y="3266480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6361" y="3650456"/>
            <a:ext cx="375047" cy="4286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87711" y="4186238"/>
            <a:ext cx="163234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Medical Diagnosis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85775" y="4466630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the presence of a specific "Disease" or "No Disease" from patient data.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736306" y="3266480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736306" y="3266480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103" y="3650456"/>
            <a:ext cx="428625" cy="4286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24005" y="4186238"/>
            <a:ext cx="86082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Oncology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736306" y="4466630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Classifying medical imaging or biopsy results as "Malignant" or "Benign."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vs. Logistic Regression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189434"/>
            <a:ext cx="8286750" cy="2778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9347" y="1193006"/>
            <a:ext cx="2078831" cy="535781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9347" y="1193006"/>
            <a:ext cx="2078831" cy="535781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68178" y="1193006"/>
            <a:ext cx="3343080" cy="535781"/>
          </a:xfrm>
          <a:prstGeom prst="rect">
            <a:avLst/>
          </a:prstGeom>
          <a:solidFill>
            <a:srgbClr val="2C3E50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68178" y="1193006"/>
            <a:ext cx="3343080" cy="535781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11258" y="1193006"/>
            <a:ext cx="2857695" cy="535781"/>
          </a:xfrm>
          <a:prstGeom prst="rect">
            <a:avLst/>
          </a:prstGeom>
          <a:solidFill>
            <a:srgbClr val="2C3E50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11258" y="1193006"/>
            <a:ext cx="2857695" cy="535781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9347" y="1721644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9347" y="1721644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Shape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8178" y="1721644"/>
            <a:ext cx="3343080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Straight Line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11258" y="1721644"/>
            <a:ext cx="2857695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S-Shaped Curve (Sigmoid)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9347" y="2280642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9347" y="2280642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Type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8178" y="2280642"/>
            <a:ext cx="3343080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Values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11258" y="2280642"/>
            <a:ext cx="2857695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Probabilities (0 to 1)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9347" y="2839641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9347" y="2839641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Data Fit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68178" y="2839641"/>
            <a:ext cx="3343080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Poor fit; can predict values &lt; 0 or &gt; 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11258" y="2839641"/>
            <a:ext cx="2857695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Perfect fit for binary outcomes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9347" y="3398639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9347" y="3398639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Use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1034" y="3398639"/>
            <a:ext cx="33469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Quantities (e.g., Price)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07965" y="3398639"/>
            <a:ext cx="2860988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 (e.g., Yes/No)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B45A6A1-14F9-D66B-9BF0-15085DFC8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09" y="1329195"/>
            <a:ext cx="664813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Can't I Use the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Same Straight Line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Predict,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in Linear Regression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Let's Try It and See the Issues.</a:t>
            </a:r>
          </a:p>
        </p:txBody>
      </p:sp>
    </p:spTree>
    <p:extLst>
      <p:ext uri="{BB962C8B-B14F-4D97-AF65-F5344CB8AC3E}">
        <p14:creationId xmlns:p14="http://schemas.microsoft.com/office/powerpoint/2010/main" val="163399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D4BD5-0DCA-CEE2-DB6C-DD204CB1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2" y="443405"/>
            <a:ext cx="7747051" cy="439645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7EB6D-2A97-EBFD-E868-21E32E0CDE2E}"/>
              </a:ext>
            </a:extLst>
          </p:cNvPr>
          <p:cNvSpPr txBox="1"/>
          <p:nvPr/>
        </p:nvSpPr>
        <p:spPr>
          <a:xfrm>
            <a:off x="1468701" y="8166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1:</a:t>
            </a:r>
          </a:p>
        </p:txBody>
      </p:sp>
    </p:spTree>
    <p:extLst>
      <p:ext uri="{BB962C8B-B14F-4D97-AF65-F5344CB8AC3E}">
        <p14:creationId xmlns:p14="http://schemas.microsoft.com/office/powerpoint/2010/main" val="288807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7A30F-EBDE-C9E2-1EFE-A804C23E5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03" y="355015"/>
            <a:ext cx="7637489" cy="465887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ADA13-908F-2361-FCE5-2946D7DD2D8C}"/>
              </a:ext>
            </a:extLst>
          </p:cNvPr>
          <p:cNvSpPr txBox="1"/>
          <p:nvPr/>
        </p:nvSpPr>
        <p:spPr>
          <a:xfrm>
            <a:off x="1405221" y="31697"/>
            <a:ext cx="45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Case 2:</a:t>
            </a:r>
          </a:p>
        </p:txBody>
      </p:sp>
    </p:spTree>
    <p:extLst>
      <p:ext uri="{BB962C8B-B14F-4D97-AF65-F5344CB8AC3E}">
        <p14:creationId xmlns:p14="http://schemas.microsoft.com/office/powerpoint/2010/main" val="2811438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77190-0C64-F8DF-669F-911DBCD2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88391"/>
            <a:ext cx="8178799" cy="3966717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BD3BAB-34E6-C0C0-7E7A-F003BEC4440D}"/>
              </a:ext>
            </a:extLst>
          </p:cNvPr>
          <p:cNvSpPr txBox="1"/>
          <p:nvPr/>
        </p:nvSpPr>
        <p:spPr>
          <a:xfrm>
            <a:off x="482600" y="109530"/>
            <a:ext cx="5489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: Replacing the Straight Line with Sigmoid Curve</a:t>
            </a:r>
          </a:p>
        </p:txBody>
      </p:sp>
    </p:spTree>
    <p:extLst>
      <p:ext uri="{BB962C8B-B14F-4D97-AF65-F5344CB8AC3E}">
        <p14:creationId xmlns:p14="http://schemas.microsoft.com/office/powerpoint/2010/main" val="285442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699B4-563E-6949-469D-96F1D860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77E2263-4FC9-9F0E-D9E8-8231A8621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CB78098-4167-A9A2-23F2-31D2BB5454AD}"/>
              </a:ext>
            </a:extLst>
          </p:cNvPr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Sigmoid Function</a:t>
            </a:r>
            <a:endParaRPr lang="en-US" sz="2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FD7AEBA-E6DB-B202-CB1D-C1CB4A538779}"/>
              </a:ext>
            </a:extLst>
          </p:cNvPr>
          <p:cNvSpPr/>
          <p:nvPr/>
        </p:nvSpPr>
        <p:spPr>
          <a:xfrm>
            <a:off x="485775" y="1189434"/>
            <a:ext cx="39290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MATHEMATICAL DEFINITION</a:t>
            </a:r>
            <a:endParaRPr lang="en-US" sz="12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C76AA7C-D022-ADFC-0F61-0C485279DE78}"/>
              </a:ext>
            </a:extLst>
          </p:cNvPr>
          <p:cNvSpPr/>
          <p:nvPr/>
        </p:nvSpPr>
        <p:spPr>
          <a:xfrm>
            <a:off x="485775" y="1684139"/>
            <a:ext cx="39290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S-shaped curve that maps any real-valued number into a probability range between 0 and 1.</a:t>
            </a:r>
            <a:endParaRPr lang="en-US" sz="10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19EB4A3-DAD1-FA1E-3229-3F6C11C0F979}"/>
              </a:ext>
            </a:extLst>
          </p:cNvPr>
          <p:cNvSpPr/>
          <p:nvPr/>
        </p:nvSpPr>
        <p:spPr>
          <a:xfrm>
            <a:off x="485775" y="2216348"/>
            <a:ext cx="3929063" cy="14644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F311941-4C12-AF9A-9DA9-5B5A35741E6A}"/>
              </a:ext>
            </a:extLst>
          </p:cNvPr>
          <p:cNvSpPr/>
          <p:nvPr/>
        </p:nvSpPr>
        <p:spPr>
          <a:xfrm>
            <a:off x="485775" y="2216348"/>
            <a:ext cx="3929063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51BFF5A-A4F1-3F1A-B92A-854E6C0B72C3}"/>
              </a:ext>
            </a:extLst>
          </p:cNvPr>
          <p:cNvSpPr/>
          <p:nvPr/>
        </p:nvSpPr>
        <p:spPr>
          <a:xfrm>
            <a:off x="1342020" y="2758380"/>
            <a:ext cx="193604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A535581-D971-1934-BC45-B5475CADF979}"/>
              </a:ext>
            </a:extLst>
          </p:cNvPr>
          <p:cNvSpPr/>
          <p:nvPr/>
        </p:nvSpPr>
        <p:spPr>
          <a:xfrm>
            <a:off x="3278060" y="2786955"/>
            <a:ext cx="65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0169DF-E4EE-8CDD-068B-7012E2709A02}"/>
              </a:ext>
            </a:extLst>
          </p:cNvPr>
          <p:cNvSpPr/>
          <p:nvPr/>
        </p:nvSpPr>
        <p:spPr>
          <a:xfrm>
            <a:off x="3458635" y="2758380"/>
            <a:ext cx="6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644DB0-F400-3A38-ECA7-AA15931DBE52}"/>
              </a:ext>
            </a:extLst>
          </p:cNvPr>
          <p:cNvSpPr/>
          <p:nvPr/>
        </p:nvSpPr>
        <p:spPr>
          <a:xfrm>
            <a:off x="4843463" y="1189434"/>
            <a:ext cx="39290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 CHARACTERISTICS</a:t>
            </a:r>
            <a:endParaRPr lang="en-US" sz="12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5588CF-B2F3-7099-F09C-3021FF547EF6}"/>
              </a:ext>
            </a:extLst>
          </p:cNvPr>
          <p:cNvSpPr txBox="1"/>
          <p:nvPr/>
        </p:nvSpPr>
        <p:spPr>
          <a:xfrm>
            <a:off x="4843463" y="1553877"/>
            <a:ext cx="3458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 Range is Between 0 and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A3D639-001B-ED15-C098-ECAD89196C69}"/>
                  </a:ext>
                </a:extLst>
              </p:cNvPr>
              <p:cNvSpPr txBox="1"/>
              <p:nvPr/>
            </p:nvSpPr>
            <p:spPr>
              <a:xfrm>
                <a:off x="4807259" y="2202418"/>
                <a:ext cx="39290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r>
                  <a:rPr lang="en-US" dirty="0"/>
                  <a:t>, the output approaches 0.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A3D639-001B-ED15-C098-ECAD89196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259" y="2202418"/>
                <a:ext cx="3929063" cy="369332"/>
              </a:xfrm>
              <a:prstGeom prst="rect">
                <a:avLst/>
              </a:prstGeom>
              <a:blipFill>
                <a:blip r:embed="rId4"/>
                <a:stretch>
                  <a:fillRect l="-139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A0694F-E556-A28B-0F5E-EB62921A8FAB}"/>
                  </a:ext>
                </a:extLst>
              </p:cNvPr>
              <p:cNvSpPr txBox="1"/>
              <p:nvPr/>
            </p:nvSpPr>
            <p:spPr>
              <a:xfrm>
                <a:off x="4814656" y="1878148"/>
                <a:ext cx="4814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lang="en-US" dirty="0"/>
                  <a:t>, the output approaches 1.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A0694F-E556-A28B-0F5E-EB62921A8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656" y="1878148"/>
                <a:ext cx="4814656" cy="369332"/>
              </a:xfrm>
              <a:prstGeom prst="rect">
                <a:avLst/>
              </a:prstGeom>
              <a:blipFill>
                <a:blip r:embed="rId5"/>
                <a:stretch>
                  <a:fillRect l="-11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1EBAFF17-9726-D1BE-0E12-EF19899B85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702" y="2315838"/>
            <a:ext cx="2437957" cy="130837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4A9A9A2B-4DE0-5837-277F-9459DC832C67}"/>
              </a:ext>
            </a:extLst>
          </p:cNvPr>
          <p:cNvSpPr/>
          <p:nvPr/>
        </p:nvSpPr>
        <p:spPr>
          <a:xfrm>
            <a:off x="1234939" y="3885471"/>
            <a:ext cx="865622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 = m</a:t>
            </a:r>
            <a:endParaRPr lang="en-US" sz="225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333F0A2B-3281-BBC8-E6E0-FE92D0DC41F7}"/>
              </a:ext>
            </a:extLst>
          </p:cNvPr>
          <p:cNvSpPr/>
          <p:nvPr/>
        </p:nvSpPr>
        <p:spPr>
          <a:xfrm>
            <a:off x="2193677" y="3835465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226632EE-CC14-01B8-7AED-B7539F2D54E0}"/>
              </a:ext>
            </a:extLst>
          </p:cNvPr>
          <p:cNvSpPr/>
          <p:nvPr/>
        </p:nvSpPr>
        <p:spPr>
          <a:xfrm>
            <a:off x="2268718" y="3885471"/>
            <a:ext cx="901898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x + b</a:t>
            </a:r>
            <a:endParaRPr lang="en-US" sz="22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8EA4EC-608E-0B70-475C-F3785A4846CE}"/>
              </a:ext>
            </a:extLst>
          </p:cNvPr>
          <p:cNvSpPr txBox="1"/>
          <p:nvPr/>
        </p:nvSpPr>
        <p:spPr>
          <a:xfrm>
            <a:off x="450632" y="4231720"/>
            <a:ext cx="8321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Z</a:t>
            </a:r>
            <a:r>
              <a:rPr lang="en-US" dirty="0"/>
              <a:t> is the continuous value coming from the straight-line equation.</a:t>
            </a:r>
            <a:br>
              <a:rPr lang="en-US" dirty="0"/>
            </a:br>
            <a:r>
              <a:rPr lang="en-US" dirty="0"/>
              <a:t>We then pass it to the sigmoid function, which caps the output value between </a:t>
            </a:r>
            <a:r>
              <a:rPr lang="en-US" b="1" dirty="0"/>
              <a:t>0 and 1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898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1CF8-CB13-C1DC-056B-8DC192A0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83D8252-9EB2-6834-C08B-57FCDCBFF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6F515B9-DD4A-4345-7C50-4AD059D4ABF1}"/>
              </a:ext>
            </a:extLst>
          </p:cNvPr>
          <p:cNvSpPr/>
          <p:nvPr/>
        </p:nvSpPr>
        <p:spPr>
          <a:xfrm>
            <a:off x="485775" y="342900"/>
            <a:ext cx="91440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Sigmoid Function </a:t>
            </a:r>
            <a:r>
              <a:rPr lang="en-US" sz="2450" b="1" dirty="0" err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Intution</a:t>
            </a:r>
            <a:endParaRPr lang="en-US" sz="24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21074BD-EFE2-6306-3A37-FC198A9C29F3}"/>
              </a:ext>
            </a:extLst>
          </p:cNvPr>
          <p:cNvSpPr/>
          <p:nvPr/>
        </p:nvSpPr>
        <p:spPr>
          <a:xfrm>
            <a:off x="485774" y="790469"/>
            <a:ext cx="3929063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F13FAC-94FD-61CE-7159-46D8EE48132E}"/>
              </a:ext>
            </a:extLst>
          </p:cNvPr>
          <p:cNvSpPr/>
          <p:nvPr/>
        </p:nvSpPr>
        <p:spPr>
          <a:xfrm>
            <a:off x="1342020" y="2758380"/>
            <a:ext cx="193604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B225B3F-D587-7CE8-BF7E-C616B1F7E79D}"/>
              </a:ext>
            </a:extLst>
          </p:cNvPr>
          <p:cNvSpPr/>
          <p:nvPr/>
        </p:nvSpPr>
        <p:spPr>
          <a:xfrm>
            <a:off x="3278060" y="2786955"/>
            <a:ext cx="65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5953E6B-33FF-6A97-EC94-3CB63CBC928B}"/>
              </a:ext>
            </a:extLst>
          </p:cNvPr>
          <p:cNvSpPr/>
          <p:nvPr/>
        </p:nvSpPr>
        <p:spPr>
          <a:xfrm>
            <a:off x="3458635" y="2758380"/>
            <a:ext cx="6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618178B-8A73-F1F8-8FEE-083EFE6D2B27}"/>
              </a:ext>
            </a:extLst>
          </p:cNvPr>
          <p:cNvSpPr/>
          <p:nvPr/>
        </p:nvSpPr>
        <p:spPr>
          <a:xfrm>
            <a:off x="2193677" y="3835465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C813AC-C847-9763-4FA6-38C08C770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514" y="1005676"/>
            <a:ext cx="4786531" cy="383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2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5FA03-03F8-22B7-8338-CC1B4A9B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6A6EAEA-5950-38C7-8579-8135355CA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6EB5A5E-C2A3-252C-1CB8-EA3C6D8B1167}"/>
              </a:ext>
            </a:extLst>
          </p:cNvPr>
          <p:cNvSpPr/>
          <p:nvPr/>
        </p:nvSpPr>
        <p:spPr>
          <a:xfrm>
            <a:off x="485775" y="342900"/>
            <a:ext cx="91440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Loss Function</a:t>
            </a:r>
            <a:endParaRPr lang="en-US" sz="24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D9B8CDF-345B-5648-68F2-5B895FB4F4EC}"/>
              </a:ext>
            </a:extLst>
          </p:cNvPr>
          <p:cNvSpPr/>
          <p:nvPr/>
        </p:nvSpPr>
        <p:spPr>
          <a:xfrm>
            <a:off x="485774" y="790469"/>
            <a:ext cx="3929063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B3596CA-2C28-519E-E784-87420856A327}"/>
              </a:ext>
            </a:extLst>
          </p:cNvPr>
          <p:cNvSpPr/>
          <p:nvPr/>
        </p:nvSpPr>
        <p:spPr>
          <a:xfrm>
            <a:off x="1342020" y="2758380"/>
            <a:ext cx="193604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E5EAB94-525B-C0BB-2E09-15666A105479}"/>
              </a:ext>
            </a:extLst>
          </p:cNvPr>
          <p:cNvSpPr/>
          <p:nvPr/>
        </p:nvSpPr>
        <p:spPr>
          <a:xfrm>
            <a:off x="3278060" y="2786955"/>
            <a:ext cx="65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8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48FB5CC-080A-3F9E-717F-92BA0EF39BB5}"/>
              </a:ext>
            </a:extLst>
          </p:cNvPr>
          <p:cNvSpPr/>
          <p:nvPr/>
        </p:nvSpPr>
        <p:spPr>
          <a:xfrm>
            <a:off x="3458635" y="2758380"/>
            <a:ext cx="6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7DFC16BD-FF28-3348-06A9-31289ABDDBDE}"/>
              </a:ext>
            </a:extLst>
          </p:cNvPr>
          <p:cNvSpPr/>
          <p:nvPr/>
        </p:nvSpPr>
        <p:spPr>
          <a:xfrm>
            <a:off x="2193677" y="3835465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78024-509D-F3F7-EFAA-AE262B2692C5}"/>
              </a:ext>
            </a:extLst>
          </p:cNvPr>
          <p:cNvSpPr txBox="1"/>
          <p:nvPr/>
        </p:nvSpPr>
        <p:spPr>
          <a:xfrm>
            <a:off x="562708" y="1123231"/>
            <a:ext cx="6396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Logistic Regression Loss Function (Binary Cross-Entropy / Log Loss)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9AB8C-0045-2D67-63A9-F88B4340A970}"/>
              </a:ext>
            </a:extLst>
          </p:cNvPr>
          <p:cNvSpPr txBox="1"/>
          <p:nvPr/>
        </p:nvSpPr>
        <p:spPr>
          <a:xfrm>
            <a:off x="4358054" y="202955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3C5899-CA5A-E69C-128A-712DDAF74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41" y="1592947"/>
            <a:ext cx="4246474" cy="713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04D939-400C-9D85-046D-C5994A262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289" y="1749669"/>
            <a:ext cx="3958905" cy="291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08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2756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Mathematical Representation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117997"/>
            <a:ext cx="8286750" cy="1821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5775" y="1117997"/>
            <a:ext cx="8286750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1525" y="1332309"/>
            <a:ext cx="77152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LINEAR COMBINATION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70380" y="1716286"/>
            <a:ext cx="865622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 = m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4629118" y="1666280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704159" y="1716286"/>
            <a:ext cx="901898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x + b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594967" y="2255639"/>
            <a:ext cx="144660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</a:t>
            </a:r>
            <a:r>
              <a:rPr lang="en-US" sz="95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Weights (Parameters)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27327" y="2255639"/>
            <a:ext cx="10054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</a:t>
            </a:r>
            <a:r>
              <a:rPr lang="en-US" sz="95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Input Features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18559" y="2255639"/>
            <a:ext cx="1044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r>
              <a:rPr lang="en-US" sz="95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Bias (Intercept)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5775" y="3189684"/>
            <a:ext cx="8286750" cy="1821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5775" y="3189684"/>
            <a:ext cx="8286750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1525" y="3403997"/>
            <a:ext cx="77152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 dirty="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FINAL PREDICTION (PROBABILITY)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494955" y="3787973"/>
            <a:ext cx="3787973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ŷ = σ(z) = 1 / (1 + e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282928" y="3737967"/>
            <a:ext cx="300038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50" baseline="30000" dirty="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-z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6582966" y="3787973"/>
            <a:ext cx="180380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730698" y="4327327"/>
            <a:ext cx="170914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</a:t>
            </a:r>
            <a:r>
              <a:rPr lang="en-US" sz="95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Predicted Probability [0, 1]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25591" y="4327327"/>
            <a:ext cx="180201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σ</a:t>
            </a:r>
            <a:r>
              <a:rPr lang="en-US" sz="95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Sigmoid Activation Function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Making Predictions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85775" y="1189434"/>
            <a:ext cx="471487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output of the sigmoid function, </a:t>
            </a:r>
            <a:r>
              <a:rPr lang="en-US" sz="11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</a:t>
            </a: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is interpreted as the probability that the input belongs to the positive class (Class 1).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85775" y="1978093"/>
            <a:ext cx="2434037" cy="28753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5775" y="1978093"/>
            <a:ext cx="2434037" cy="287536"/>
          </a:xfrm>
          <a:prstGeom prst="rect">
            <a:avLst/>
          </a:prstGeom>
          <a:noFill/>
          <a:ln/>
        </p:spPr>
        <p:txBody>
          <a:bodyPr wrap="square" lIns="170053" tIns="1275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Probability Condition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9812" y="1978093"/>
            <a:ext cx="2280838" cy="28753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919812" y="1978093"/>
            <a:ext cx="2280838" cy="287536"/>
          </a:xfrm>
          <a:prstGeom prst="rect">
            <a:avLst/>
          </a:prstGeom>
          <a:noFill/>
          <a:ln/>
        </p:spPr>
        <p:txBody>
          <a:bodyPr wrap="square" lIns="170053" tIns="1275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Predicted Class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5775" y="2265629"/>
            <a:ext cx="2434037" cy="348258"/>
          </a:xfrm>
          <a:prstGeom prst="rect">
            <a:avLst/>
          </a:prstGeom>
          <a:noFill/>
          <a:ln/>
        </p:spPr>
        <p:txBody>
          <a:bodyPr wrap="square" lIns="170053" tIns="170053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 ≥ 0.5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62687" y="2408504"/>
            <a:ext cx="4589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1673" y="2408504"/>
            <a:ext cx="9447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(e.g., Positive)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5775" y="2613887"/>
            <a:ext cx="2434037" cy="351830"/>
          </a:xfrm>
          <a:prstGeom prst="rect">
            <a:avLst/>
          </a:prstGeom>
          <a:noFill/>
          <a:ln/>
        </p:spPr>
        <p:txBody>
          <a:bodyPr wrap="square" lIns="170053" tIns="170053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 &lt; 0.5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062687" y="2760334"/>
            <a:ext cx="4589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 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1673" y="2760334"/>
            <a:ext cx="10126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(e.g., Negative)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" y="2969289"/>
            <a:ext cx="4714875" cy="1040113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1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Boundary</a:t>
            </a: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point where the model transitions from one class to another, typically at the 0.5 probability threshold.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29275" y="1189434"/>
            <a:ext cx="3143250" cy="4011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629275" y="1189434"/>
            <a:ext cx="3143250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713" y="2557463"/>
            <a:ext cx="714375" cy="7143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34683" y="3414713"/>
            <a:ext cx="233243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Threshold = 0.5
</a:t>
            </a:r>
            <a:r>
              <a:rPr lang="en-US" sz="950" dirty="0">
                <a:solidFill>
                  <a:srgbClr val="7F8C8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Separation in Feature Space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the Model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117997"/>
            <a:ext cx="8286750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5775" y="1117997"/>
            <a:ext cx="8286750" cy="2857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1332309"/>
            <a:ext cx="357188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3025" y="1296591"/>
            <a:ext cx="7215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Objective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343025" y="1562695"/>
            <a:ext cx="7215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primary goal is to find the optimal parameters—</a:t>
            </a:r>
            <a:r>
              <a:rPr lang="en-US" sz="9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weights (w)</a:t>
            </a: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9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bias (b)</a:t>
            </a: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—that allow the sigmoid curve to fit the training data as accurately as possible.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85775" y="2403872"/>
            <a:ext cx="8286750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5775" y="2403872"/>
            <a:ext cx="8286750" cy="2857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55" y="2618184"/>
            <a:ext cx="267891" cy="357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3025" y="2582466"/>
            <a:ext cx="7215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Cost Function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343025" y="2848570"/>
            <a:ext cx="7215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mathematical tool used to measure how far off our predictions are from the actual values. It quantifies the error for a given set of parameters.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85775" y="3689747"/>
            <a:ext cx="8286750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85775" y="3689747"/>
            <a:ext cx="8286750" cy="2857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3904059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3025" y="3868341"/>
            <a:ext cx="7215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Optimization Process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343025" y="4134445"/>
            <a:ext cx="7215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iteratively </a:t>
            </a:r>
            <a:r>
              <a:rPr lang="en-US" sz="9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minimizing the cost function</a:t>
            </a:r>
            <a:r>
              <a:rPr lang="en-US" sz="9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we update the weights and bias to improve the model's prediction accuracy and overall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66355" y="92869"/>
            <a:ext cx="461129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Summary and Conclusion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714500" y="639366"/>
            <a:ext cx="571500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714500" y="639366"/>
            <a:ext cx="5715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3" y="810816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43125" y="705110"/>
            <a:ext cx="518636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is the foundational model for </a:t>
            </a:r>
            <a:r>
              <a:rPr lang="en-US" sz="11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classification</a:t>
            </a: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machine learning.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1714500" y="1296591"/>
            <a:ext cx="571500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714500" y="1296591"/>
            <a:ext cx="5715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513" y="1468041"/>
            <a:ext cx="2857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00275" y="1362335"/>
            <a:ext cx="512921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utilizes the </a:t>
            </a:r>
            <a:r>
              <a:rPr lang="en-US" sz="11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Sigmoid function</a:t>
            </a: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map linear combinations into probabilities between 0 and 1.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1714500" y="1953816"/>
            <a:ext cx="571500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1714500" y="1953816"/>
            <a:ext cx="5715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513" y="212526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43125" y="2019560"/>
            <a:ext cx="518636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performance is optimized by minimizing a </a:t>
            </a:r>
            <a:r>
              <a:rPr lang="en-US" sz="1100" b="1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function</a:t>
            </a:r>
            <a:r>
              <a:rPr lang="en-US" sz="1150" dirty="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find the best weights and bias.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109" y="2694980"/>
            <a:ext cx="535781" cy="428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684</Words>
  <Application>Microsoft Office PowerPoint</Application>
  <PresentationFormat>On-screen Show (16:9)</PresentationFormat>
  <Paragraphs>102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Cambria Math</vt:lpstr>
      <vt:lpstr>Montserrat Bold</vt:lpstr>
      <vt:lpstr>Open Sans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24</cp:revision>
  <dcterms:created xsi:type="dcterms:W3CDTF">2026-06-08T13:10:31Z</dcterms:created>
  <dcterms:modified xsi:type="dcterms:W3CDTF">2026-06-09T10:04:32Z</dcterms:modified>
</cp:coreProperties>
</file>