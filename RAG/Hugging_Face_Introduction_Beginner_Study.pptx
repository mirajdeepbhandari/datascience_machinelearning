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3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dari, Miraj" userId="0d44bc06-2b8f-40ab-92c6-f4fd8615fd13" providerId="ADAL" clId="{EF3D1119-16C9-4ABB-BA8B-B310D4070A74}"/>
    <pc:docChg chg="modSld">
      <pc:chgData name="Bhandari, Miraj" userId="0d44bc06-2b8f-40ab-92c6-f4fd8615fd13" providerId="ADAL" clId="{EF3D1119-16C9-4ABB-BA8B-B310D4070A74}" dt="2026-07-19T06:55:27.600" v="0" actId="1076"/>
      <pc:docMkLst>
        <pc:docMk/>
      </pc:docMkLst>
      <pc:sldChg chg="modSp mod">
        <pc:chgData name="Bhandari, Miraj" userId="0d44bc06-2b8f-40ab-92c6-f4fd8615fd13" providerId="ADAL" clId="{EF3D1119-16C9-4ABB-BA8B-B310D4070A74}" dt="2026-07-19T06:55:27.600" v="0" actId="1076"/>
        <pc:sldMkLst>
          <pc:docMk/>
          <pc:sldMk cId="0" sldId="279"/>
        </pc:sldMkLst>
        <pc:spChg chg="mod">
          <ac:chgData name="Bhandari, Miraj" userId="0d44bc06-2b8f-40ab-92c6-f4fd8615fd13" providerId="ADAL" clId="{EF3D1119-16C9-4ABB-BA8B-B310D4070A74}" dt="2026-07-19T06:55:27.600" v="0" actId="1076"/>
          <ac:spMkLst>
            <pc:docMk/>
            <pc:sldMk cId="0" sldId="279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531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linkedin.com/in/laxmimer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gptalkie.com" TargetMode="External"/><Relationship Id="rId5" Type="http://schemas.openxmlformats.org/officeDocument/2006/relationships/hyperlink" Target="https://youtube.com/kgptalkie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edin.com/in/laxmimerit" TargetMode="External"/><Relationship Id="rId5" Type="http://schemas.openxmlformats.org/officeDocument/2006/relationships/hyperlink" Target="https://kgptalkie.com" TargetMode="External"/><Relationship Id="rId4" Type="http://schemas.openxmlformats.org/officeDocument/2006/relationships/hyperlink" Target="https://youtube.com/kgptalki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edin.com/in/laxmimerit" TargetMode="External"/><Relationship Id="rId5" Type="http://schemas.openxmlformats.org/officeDocument/2006/relationships/hyperlink" Target="https://kgptalkie.com" TargetMode="External"/><Relationship Id="rId4" Type="http://schemas.openxmlformats.org/officeDocument/2006/relationships/hyperlink" Target="https://youtube.com/kgptalkie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mnt/data/a_clean_modern_desk_workspace_scene_photographed_batch_1.png"/>
          <p:cNvPicPr>
            <a:picLocks noChangeAspect="1"/>
          </p:cNvPicPr>
          <p:nvPr/>
        </p:nvPicPr>
        <p:blipFill>
          <a:blip r:embed="rId3"/>
          <a:srcRect l="2000" t="3000" r="37570" b="3000"/>
          <a:stretch/>
        </p:blipFill>
        <p:spPr>
          <a:xfrm>
            <a:off x="6144768" y="1024128"/>
            <a:ext cx="5138928" cy="44988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868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563EB"/>
                </a:solidFill>
              </a:rPr>
              <a:t>BEGINNER FRIENDLY</a:t>
            </a:r>
            <a:endParaRPr lang="en-US" sz="1120" dirty="0"/>
          </a:p>
        </p:txBody>
      </p:sp>
      <p:sp>
        <p:nvSpPr>
          <p:cNvPr id="6" name="Text 2"/>
          <p:cNvSpPr/>
          <p:nvPr/>
        </p:nvSpPr>
        <p:spPr>
          <a:xfrm>
            <a:off x="658368" y="1234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Hugging Face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694944" y="2852928"/>
            <a:ext cx="473659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6B7280"/>
                </a:solidFill>
              </a:rPr>
              <a:t>Step-by-step study material for using models, datasets, Spaces, pipelines, tokenizers, and AutoClasses.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94944" y="3886200"/>
            <a:ext cx="1920240" cy="438912"/>
          </a:xfrm>
          <a:prstGeom prst="roundRect">
            <a:avLst>
              <a:gd name="adj" fmla="val 25000"/>
            </a:avLst>
          </a:prstGeom>
          <a:solidFill>
            <a:srgbClr val="FFCC4D"/>
          </a:solidFill>
          <a:ln w="12700">
            <a:solidFill>
              <a:srgbClr val="FFCC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49808" y="398678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819"/>
                </a:solidFill>
              </a:rPr>
              <a:t>🤗 Start Here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path for beginners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Follow this order while teaching or studying. Each step builds on the previous one.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170682" y="233172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02452" y="233172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34222" y="233172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182880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23544" y="2048256"/>
            <a:ext cx="530352" cy="530352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3544" y="210312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4480" y="207568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1. Understand the Hub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554480" y="235000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Models, datasets, demos, community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509010" y="182880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5314" y="2048256"/>
            <a:ext cx="530352" cy="530352"/>
          </a:xfrm>
          <a:prstGeom prst="ellipse">
            <a:avLst/>
          </a:prstGeom>
          <a:solidFill>
            <a:srgbClr val="DFF8FF"/>
          </a:solidFill>
          <a:ln w="12700">
            <a:solidFill>
              <a:srgbClr val="DFF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5314" y="210312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286250" y="207568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2. Run a pipeline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286250" y="235000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Use a model in one line of code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240780" y="182880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387084" y="2048256"/>
            <a:ext cx="530352" cy="53035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87084" y="210312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018020" y="207568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3. Pick a checkpoint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018020" y="235000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Choose model based on task and license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972550" y="182880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118854" y="2048256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118854" y="210312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749790" y="207568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4. Use AutoClasses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749790" y="235000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Load tokenizer, processor, and model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3170682" y="402336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902452" y="402336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634222" y="402336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77240" y="352044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23544" y="3739896"/>
            <a:ext cx="530352" cy="5303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23544" y="37947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554480" y="376732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5. Load datasets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1554480" y="404164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Use public datasets for practice</a:t>
            </a:r>
            <a:endParaRPr lang="en-US" sz="1120" dirty="0"/>
          </a:p>
        </p:txBody>
      </p:sp>
      <p:sp>
        <p:nvSpPr>
          <p:cNvPr id="37" name="Shape 34"/>
          <p:cNvSpPr/>
          <p:nvPr/>
        </p:nvSpPr>
        <p:spPr>
          <a:xfrm>
            <a:off x="3509010" y="352044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3655314" y="3739896"/>
            <a:ext cx="530352" cy="53035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655314" y="37947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4286250" y="376732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6. Explore Spaces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286250" y="404164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Try and deploy ML demos</a:t>
            </a:r>
            <a:endParaRPr lang="en-US" sz="1120" dirty="0"/>
          </a:p>
        </p:txBody>
      </p:sp>
      <p:sp>
        <p:nvSpPr>
          <p:cNvPr id="42" name="Shape 39"/>
          <p:cNvSpPr/>
          <p:nvPr/>
        </p:nvSpPr>
        <p:spPr>
          <a:xfrm>
            <a:off x="6240780" y="352044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387084" y="3739896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387084" y="37947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7018020" y="376732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7. Fine-tune basics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7018020" y="404164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Prepare data, train, evaluate</a:t>
            </a:r>
            <a:endParaRPr lang="en-US" sz="1120" dirty="0"/>
          </a:p>
        </p:txBody>
      </p:sp>
      <p:sp>
        <p:nvSpPr>
          <p:cNvPr id="47" name="Shape 44"/>
          <p:cNvSpPr/>
          <p:nvPr/>
        </p:nvSpPr>
        <p:spPr>
          <a:xfrm>
            <a:off x="8972550" y="3520440"/>
            <a:ext cx="241173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9118854" y="3739896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9118854" y="37947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9749790" y="3767328"/>
            <a:ext cx="1497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8. Build projects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9749790" y="4041648"/>
            <a:ext cx="1497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Apply the same recipe to tutorials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1005840" y="5285232"/>
            <a:ext cx="10149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819"/>
                </a:solidFill>
              </a:rPr>
              <a:t>Study rule: do not memorize every class. First understand the pattern: task → checkpoint → tokenizer/processor → model → output.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image(30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366" y="219456"/>
            <a:ext cx="1670428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Hugging Face?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Think of it as GitHub + app store + documentation hub for machine learning.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82512" y="1216152"/>
            <a:ext cx="5020056" cy="4425696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a_cozy_desk_workspace_scene_photographed_from_an_o_batch_2.png"/>
          <p:cNvPicPr>
            <a:picLocks noChangeAspect="1"/>
          </p:cNvPicPr>
          <p:nvPr/>
        </p:nvPicPr>
        <p:blipFill>
          <a:blip r:embed="rId4"/>
          <a:srcRect l="12000" t="6000" r="35601" b="12000"/>
          <a:stretch/>
        </p:blipFill>
        <p:spPr>
          <a:xfrm>
            <a:off x="6400800" y="1234440"/>
            <a:ext cx="4983480" cy="43891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1325880"/>
            <a:ext cx="530352" cy="530352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13807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🤗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463040" y="13533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Community platform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163677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Browse, share, and use AI models built by the community.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777240" y="2286000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77240" y="234086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463040" y="23134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Model Hub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63040" y="259689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Find pretrained models for text, image, audio, and multimodal tasks.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777240" y="3246120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77240" y="330098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463040" y="32735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Datasets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63040" y="35570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Explore datasets with dataset cards and examples.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777240" y="4206240"/>
            <a:ext cx="530352" cy="5303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77240" y="426110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1463040" y="4233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Spaces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463040" y="451713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Try machine learning demos in the browser.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822960" y="5559552"/>
            <a:ext cx="3246120" cy="310896"/>
          </a:xfrm>
          <a:prstGeom prst="roundRect">
            <a:avLst>
              <a:gd name="adj" fmla="val 23529"/>
            </a:avLst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32688" y="5623560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Public homepage says: Browse 2M+ models</a:t>
            </a:r>
            <a:endParaRPr lang="en-US" sz="1120" dirty="0"/>
          </a:p>
        </p:txBody>
      </p:sp>
      <p:sp>
        <p:nvSpPr>
          <p:cNvPr id="26" name="Text 22"/>
          <p:cNvSpPr/>
          <p:nvPr/>
        </p:nvSpPr>
        <p:spPr>
          <a:xfrm>
            <a:off x="502920" y="64282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KGP Talkie • Hugging Face Introduction</a:t>
            </a:r>
            <a:endParaRPr lang="en-US" sz="1080" dirty="0"/>
          </a:p>
        </p:txBody>
      </p:sp>
      <p:sp>
        <p:nvSpPr>
          <p:cNvPr id="27" name="Text 23">
            <a:hlinkClick r:id="rId5"/>
          </p:cNvPr>
          <p:cNvSpPr/>
          <p:nvPr/>
        </p:nvSpPr>
        <p:spPr>
          <a:xfrm>
            <a:off x="3977640" y="64282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youtube.com/kgptalkie</a:t>
            </a:r>
            <a:endParaRPr lang="en-US" sz="1080" dirty="0"/>
          </a:p>
        </p:txBody>
      </p:sp>
      <p:sp>
        <p:nvSpPr>
          <p:cNvPr id="28" name="Text 24">
            <a:hlinkClick r:id="rId6"/>
          </p:cNvPr>
          <p:cNvSpPr/>
          <p:nvPr/>
        </p:nvSpPr>
        <p:spPr>
          <a:xfrm>
            <a:off x="5989320" y="64282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kgptalkie.com</a:t>
            </a:r>
            <a:endParaRPr lang="en-US" sz="1080" dirty="0"/>
          </a:p>
        </p:txBody>
      </p:sp>
      <p:sp>
        <p:nvSpPr>
          <p:cNvPr id="29" name="Text 25">
            <a:hlinkClick r:id="rId7"/>
          </p:cNvPr>
          <p:cNvSpPr/>
          <p:nvPr/>
        </p:nvSpPr>
        <p:spPr>
          <a:xfrm>
            <a:off x="7406640" y="64282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linkedin.com/in/laxmimerit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Hugging Face ecosystem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You will mostly use these four pieces in beginner tutorials.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57276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FFE8A3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51560" y="188366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1560" y="193852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🤗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745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819"/>
                </a:solidFill>
              </a:rPr>
              <a:t>🤗 Hub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74520" y="223113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Model repos, dataset repos, Spaces repos, files, README, versions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355080" y="157276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83680" y="188366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83680" y="193852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066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819"/>
                </a:solidFill>
              </a:rPr>
              <a:t>⚙️ Transformers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406640" y="223113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Python library to load tokenizers, processors, models, and pipelines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822960" y="367588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51560" y="398678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51560" y="404164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874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819"/>
                </a:solidFill>
              </a:rPr>
              <a:t>🗂️ Datasets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874520" y="433425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Library and Hub pages to search, inspect, and load datasets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6355080" y="3675888"/>
            <a:ext cx="4983480" cy="13716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583680" y="3986784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83680" y="4041648"/>
            <a:ext cx="658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406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819"/>
                </a:solidFill>
              </a:rPr>
              <a:t>🚀 Spaces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406640" y="433425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334155"/>
                </a:solidFill>
              </a:rPr>
              <a:t>Deploy demos using Gradio, Streamlit, Docker, or static apps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 before running tutorials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Keep installation simple first. Do advanced GPU setup later.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393192" cy="393192"/>
          </a:xfrm>
          <a:prstGeom prst="ellipse">
            <a:avLst/>
          </a:prstGeom>
          <a:solidFill>
            <a:srgbClr val="000819"/>
          </a:solidFill>
          <a:ln w="12700">
            <a:solidFill>
              <a:srgbClr val="0008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490472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17320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Create environment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733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Use conda or venv so your project stays clean.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22960" y="2185416"/>
            <a:ext cx="393192" cy="393192"/>
          </a:xfrm>
          <a:prstGeom prst="ellipse">
            <a:avLst/>
          </a:prstGeom>
          <a:solidFill>
            <a:srgbClr val="000819"/>
          </a:solidFill>
          <a:ln w="12700">
            <a:solidFill>
              <a:srgbClr val="0008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2258568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417320" y="21579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Install libraries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4414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Start with transformers, datasets, accelerate, and torch.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22960" y="2953512"/>
            <a:ext cx="393192" cy="393192"/>
          </a:xfrm>
          <a:prstGeom prst="ellipse">
            <a:avLst/>
          </a:prstGeom>
          <a:solidFill>
            <a:srgbClr val="000819"/>
          </a:solidFill>
          <a:ln w="12700">
            <a:solidFill>
              <a:srgbClr val="0008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3026664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41732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Run a pipeline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2095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Verify the setup before writing advanced code.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822960" y="3721608"/>
            <a:ext cx="393192" cy="393192"/>
          </a:xfrm>
          <a:prstGeom prst="ellipse">
            <a:avLst/>
          </a:prstGeom>
          <a:solidFill>
            <a:srgbClr val="000819"/>
          </a:solidFill>
          <a:ln w="12700">
            <a:solidFill>
              <a:srgbClr val="0008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22960" y="3794760"/>
            <a:ext cx="393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417320" y="3694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Login only when needed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39776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B7280"/>
                </a:solidFill>
              </a:rPr>
              <a:t>Use a token for gated models or pushing files to Hub.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172200" y="141732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36792" y="1563624"/>
            <a:ext cx="4882896" cy="3127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Option 1: create a clean Python environment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python -m venv hf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Windows: hf\Scripts\activate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macOS/Linux: source hf/bin/activate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pip install -U transformers datasets accelerate torch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Optional login for gated models / uploads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huggingface-cli login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68680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819"/>
                </a:solidFill>
              </a:rPr>
              <a:t>Beginner advice: first run everything on CPU. Once the logic is clear, then move to GPU or Colab.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Transformers library: the practical idea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Transformers gives you reusable building blocks for pretrained models.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46520" y="1481328"/>
            <a:ext cx="4663440" cy="2615184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37960" y="1529393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Use it with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03720" y="1965960"/>
            <a:ext cx="685800" cy="68580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03720" y="2020824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75120" y="27889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</a:rPr>
              <a:t>PyTorch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0" y="1965960"/>
            <a:ext cx="685800" cy="68580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0" y="2020824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🔶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01000" y="27889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</a:rPr>
              <a:t>TensorFlow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555480" y="1965960"/>
            <a:ext cx="685800" cy="6858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555480" y="2020824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326880" y="27889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5CF6"/>
                </a:solidFill>
              </a:rPr>
              <a:t>JAX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1481328"/>
            <a:ext cx="4983480" cy="2651760"/>
          </a:xfrm>
          <a:prstGeom prst="roundRect">
            <a:avLst>
              <a:gd name="adj" fmla="val 3871"/>
            </a:avLst>
          </a:prstGeom>
          <a:solidFill>
            <a:srgbClr val="FFF7D6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97280" y="1627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819"/>
                </a:solidFill>
              </a:rPr>
              <a:t>Why beginners love it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124712" y="2057400"/>
            <a:ext cx="434340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common API for many model types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Works with text, image, audio, and multimodal tasks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Gives ready-made pipelines for quick inference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Lets you fine-tune models later using Trainer</a:t>
            </a:r>
            <a:endParaRPr lang="en-US" sz="1310" dirty="0"/>
          </a:p>
        </p:txBody>
      </p:sp>
      <p:sp>
        <p:nvSpPr>
          <p:cNvPr id="20" name="Shape 17"/>
          <p:cNvSpPr/>
          <p:nvPr/>
        </p:nvSpPr>
        <p:spPr>
          <a:xfrm>
            <a:off x="2194560" y="4709160"/>
            <a:ext cx="7863840" cy="0"/>
          </a:xfrm>
          <a:prstGeom prst="line">
            <a:avLst/>
          </a:prstGeom>
          <a:noFill/>
          <a:ln w="1778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34440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819"/>
                </a:solidFill>
              </a:rPr>
              <a:t>Pretrained model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74920" y="44805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819"/>
                </a:solidFill>
              </a:rPr>
              <a:t>Your task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03920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819"/>
                </a:solidFill>
              </a:rPr>
              <a:t>Useful output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pipeline?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A pipeline hides the boring steps and lets you focus on the task.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04672" y="1399032"/>
            <a:ext cx="10597896" cy="3648456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wide_clean_3d_vector_illustration_infographic_on_a_batch_3.png"/>
          <p:cNvPicPr>
            <a:picLocks noChangeAspect="1"/>
          </p:cNvPicPr>
          <p:nvPr/>
        </p:nvPicPr>
        <p:blipFill>
          <a:blip r:embed="rId3"/>
          <a:srcRect r="-64565"/>
          <a:stretch/>
        </p:blipFill>
        <p:spPr>
          <a:xfrm>
            <a:off x="822960" y="1417320"/>
            <a:ext cx="10561320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03120" y="5650992"/>
            <a:ext cx="7955280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77240" y="5422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Input</a:t>
            </a:r>
            <a:endParaRPr lang="en-US" sz="1120" dirty="0"/>
          </a:p>
        </p:txBody>
      </p:sp>
      <p:sp>
        <p:nvSpPr>
          <p:cNvPr id="10" name="Text 6"/>
          <p:cNvSpPr/>
          <p:nvPr/>
        </p:nvSpPr>
        <p:spPr>
          <a:xfrm>
            <a:off x="2926080" y="5422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Pre-processing</a:t>
            </a:r>
            <a:endParaRPr lang="en-US" sz="1120" dirty="0"/>
          </a:p>
        </p:txBody>
      </p:sp>
      <p:sp>
        <p:nvSpPr>
          <p:cNvPr id="11" name="Text 7"/>
          <p:cNvSpPr/>
          <p:nvPr/>
        </p:nvSpPr>
        <p:spPr>
          <a:xfrm>
            <a:off x="5074920" y="5422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59E0B"/>
                </a:solidFill>
              </a:rPr>
              <a:t>Model inference</a:t>
            </a:r>
            <a:endParaRPr lang="en-US" sz="1120" dirty="0"/>
          </a:p>
        </p:txBody>
      </p:sp>
      <p:sp>
        <p:nvSpPr>
          <p:cNvPr id="12" name="Text 8"/>
          <p:cNvSpPr/>
          <p:nvPr/>
        </p:nvSpPr>
        <p:spPr>
          <a:xfrm>
            <a:off x="7223760" y="5422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Post-processing</a:t>
            </a:r>
            <a:endParaRPr lang="en-US" sz="1120" dirty="0"/>
          </a:p>
        </p:txBody>
      </p:sp>
      <p:sp>
        <p:nvSpPr>
          <p:cNvPr id="13" name="Text 9"/>
          <p:cNvSpPr/>
          <p:nvPr/>
        </p:nvSpPr>
        <p:spPr>
          <a:xfrm>
            <a:off x="9372600" y="5422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Output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image(30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366" y="219456"/>
            <a:ext cx="1670428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1: first inference pipeline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Goal: run a pretrained model without understanding every internal detail.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5532120" cy="39776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7552" y="1563624"/>
            <a:ext cx="5202936" cy="3721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transformers import pipeline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classifier = pipeline("sentiment-analysis")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 = classifier("I love learning Hugging Face!")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print(result)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Example output: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[{'label': 'POSITIVE', 'score': 0.99}]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20840" y="1508760"/>
            <a:ext cx="4480560" cy="356616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40880" y="182880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0" y="18836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01000" y="18562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819"/>
                </a:solidFill>
              </a:rPr>
              <a:t>What happened?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269480" y="2578608"/>
            <a:ext cx="3474720" cy="1463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Pipeline downloaded a default sentiment model.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It converted text into tokens.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model predicted a label.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Output became human readable.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7022592" y="4617720"/>
            <a:ext cx="3566160" cy="310896"/>
          </a:xfrm>
          <a:prstGeom prst="roundRect">
            <a:avLst>
              <a:gd name="adj" fmla="val 23529"/>
            </a:avLst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4681728"/>
            <a:ext cx="3346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Your first Hugging Face win: one task, one line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Behind the pipeline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The same idea appears again and again in Hugging Face tutorials.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096512" y="210312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616952" y="210312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160020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60704" y="1819656"/>
            <a:ext cx="530352" cy="5303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60704" y="187452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91640" y="1847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1. Pre-process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69164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Tokenizer/processor converts raw input into tensors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4434840" y="160020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81144" y="1819656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81144" y="187452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12080" y="1847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2. Run model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1208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Neural network predicts logits, scores, or hidden states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955280" y="1600200"/>
            <a:ext cx="32004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101584" y="1819656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01584" y="187452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🧾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732520" y="18470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3. Post-process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73252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Convert raw model output into labels, text, or boxes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1828800" y="3794760"/>
            <a:ext cx="8503920" cy="1143000"/>
          </a:xfrm>
          <a:prstGeom prst="roundRect">
            <a:avLst>
              <a:gd name="adj" fmla="val 9600"/>
            </a:avLst>
          </a:prstGeom>
          <a:solidFill>
            <a:srgbClr val="FFF7D6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148840" y="4041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819"/>
                </a:solidFill>
              </a:rPr>
              <a:t>Beginner mental model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572000" y="40690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</a:rPr>
              <a:t>Whenever you see pipeline(), remember: input → conversion → model → readable output.</a:t>
            </a:r>
            <a:endParaRPr lang="en-US" sz="1320" dirty="0"/>
          </a:p>
        </p:txBody>
      </p:sp>
      <p:sp>
        <p:nvSpPr>
          <p:cNvPr id="30" name="Text 27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image(30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366" y="219456"/>
            <a:ext cx="1670428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pipeline tasks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Start with simple text tasks, then move to image and audio tasks.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14630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41832" y="1783080"/>
            <a:ext cx="530352" cy="53035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41832" y="18379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581912" y="1719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Text Classification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81912" y="20299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Sentiment, spam, topic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11880" y="14630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76472" y="1783080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776472" y="18379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416552" y="1719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Question Answering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16552" y="20299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Context + question → answer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46520" y="14630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611112" y="1783080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11112" y="18379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251192" y="1719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Fill-Mask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251192" y="20299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Predict missing word/token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281160" y="14630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445752" y="1783080"/>
            <a:ext cx="530352" cy="5303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445752" y="18379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10085832" y="17190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Summarization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085832" y="20299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Long text → short summary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7240" y="32918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41832" y="3611880"/>
            <a:ext cx="530352" cy="53035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41832" y="36667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581912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Translation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581912" y="3858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One language → another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11880" y="32918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776472" y="3611880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776472" y="36667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4416552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Speech Recognition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416552" y="3858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Audio → text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46520" y="32918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611112" y="3611880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611112" y="36667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7251192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Image Classification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251192" y="3858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Image → class label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281160" y="329184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9445752" y="3611880"/>
            <a:ext cx="530352" cy="5303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445752" y="3666744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10085832" y="35478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Object Detection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0085832" y="3858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Image → boxes + labels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60120" y="5715000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819"/>
                </a:solidFill>
              </a:rPr>
              <a:t>When confused, search by task first. Then select a checkpoint trained for that task.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502920" y="64282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KGP Talkie • Hugging Face Introduction</a:t>
            </a:r>
            <a:endParaRPr lang="en-US" sz="1080" dirty="0"/>
          </a:p>
        </p:txBody>
      </p:sp>
      <p:sp>
        <p:nvSpPr>
          <p:cNvPr id="48" name="Text 45">
            <a:hlinkClick r:id="rId4"/>
          </p:cNvPr>
          <p:cNvSpPr/>
          <p:nvPr/>
        </p:nvSpPr>
        <p:spPr>
          <a:xfrm>
            <a:off x="3977640" y="64282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youtube.com/kgptalkie</a:t>
            </a:r>
            <a:endParaRPr lang="en-US" sz="1080" dirty="0"/>
          </a:p>
        </p:txBody>
      </p:sp>
      <p:sp>
        <p:nvSpPr>
          <p:cNvPr id="49" name="Text 46">
            <a:hlinkClick r:id="rId5"/>
          </p:cNvPr>
          <p:cNvSpPr/>
          <p:nvPr/>
        </p:nvSpPr>
        <p:spPr>
          <a:xfrm>
            <a:off x="5989320" y="64282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kgptalkie.com</a:t>
            </a:r>
            <a:endParaRPr lang="en-US" sz="1080" dirty="0"/>
          </a:p>
        </p:txBody>
      </p:sp>
      <p:sp>
        <p:nvSpPr>
          <p:cNvPr id="50" name="Text 47">
            <a:hlinkClick r:id="rId6"/>
          </p:cNvPr>
          <p:cNvSpPr/>
          <p:nvPr/>
        </p:nvSpPr>
        <p:spPr>
          <a:xfrm>
            <a:off x="7406640" y="64282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linkedin.com/in/laxmimerit</a:t>
            </a:r>
            <a:endParaRPr lang="en-US" sz="1080" dirty="0"/>
          </a:p>
        </p:txBody>
      </p:sp>
      <p:sp>
        <p:nvSpPr>
          <p:cNvPr id="51" name="Text 48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checkpoints: what are you downloading?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2940" y="1201293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A checkpoint is a saved model state: architecture + learned weights + config files.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80872" y="1589913"/>
            <a:ext cx="4389120" cy="3931920"/>
          </a:xfrm>
          <a:prstGeom prst="roundRect">
            <a:avLst>
              <a:gd name="adj" fmla="val 2791"/>
            </a:avLst>
          </a:prstGeom>
          <a:solidFill>
            <a:srgbClr val="FFF7D6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17373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43000" y="1792224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819"/>
                </a:solidFill>
              </a:rPr>
              <a:t>Checkpoint = saved model package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70432" y="2697480"/>
            <a:ext cx="365760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usually contains: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weights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tokenizer files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 card README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license and usage notes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06440" y="1508760"/>
            <a:ext cx="1338682" cy="811530"/>
          </a:xfrm>
          <a:prstGeom prst="rect">
            <a:avLst/>
          </a:prstGeom>
          <a:solidFill>
            <a:srgbClr val="000819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79592" y="1581912"/>
            <a:ext cx="1192378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family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145122" y="1508760"/>
            <a:ext cx="1896466" cy="811530"/>
          </a:xfrm>
          <a:prstGeom prst="rect">
            <a:avLst/>
          </a:prstGeom>
          <a:solidFill>
            <a:srgbClr val="000819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218274" y="1581912"/>
            <a:ext cx="175016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/ Task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41587" y="1508760"/>
            <a:ext cx="2342693" cy="811530"/>
          </a:xfrm>
          <a:prstGeom prst="rect">
            <a:avLst/>
          </a:prstGeom>
          <a:solidFill>
            <a:srgbClr val="000819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14739" y="1581912"/>
            <a:ext cx="2196389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Checkpoint name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806440" y="2320290"/>
            <a:ext cx="1338682" cy="81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79592" y="2393442"/>
            <a:ext cx="1192378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BERT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45122" y="2320290"/>
            <a:ext cx="1896466" cy="81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18274" y="2393442"/>
            <a:ext cx="175016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Wikipedia + Books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41587" y="2320290"/>
            <a:ext cx="2342693" cy="81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14739" y="2393442"/>
            <a:ext cx="2196389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bert-base-uncased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06440" y="3131820"/>
            <a:ext cx="1338682" cy="81153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879592" y="3204972"/>
            <a:ext cx="1192378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DistilBERT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45122" y="3131820"/>
            <a:ext cx="1896466" cy="81153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18274" y="3204972"/>
            <a:ext cx="175016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SQuAD QA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41587" y="3131820"/>
            <a:ext cx="2342693" cy="81153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114739" y="3204972"/>
            <a:ext cx="2196389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distilbert-base-cased-distilled-squad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06440" y="3943350"/>
            <a:ext cx="1338682" cy="81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879592" y="4016502"/>
            <a:ext cx="1192378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ViT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45122" y="3943350"/>
            <a:ext cx="1896466" cy="81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218274" y="4016502"/>
            <a:ext cx="1750162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ImageNet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041587" y="3943350"/>
            <a:ext cx="2342693" cy="8115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9114739" y="4016502"/>
            <a:ext cx="2196389" cy="7018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220"/>
                </a:solidFill>
              </a:rPr>
              <a:t>google/vit-base-patch16-224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80760" y="5074920"/>
            <a:ext cx="4800600" cy="310896"/>
          </a:xfrm>
          <a:prstGeom prst="roundRect">
            <a:avLst>
              <a:gd name="adj" fmla="val 23529"/>
            </a:avLst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190488" y="5138928"/>
            <a:ext cx="4581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Tip: checkpoint name usually tells you model + size + training data/task</a:t>
            </a:r>
            <a:endParaRPr lang="en-US" sz="1120" dirty="0"/>
          </a:p>
        </p:txBody>
      </p:sp>
      <p:sp>
        <p:nvSpPr>
          <p:cNvPr id="41" name="Text 38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the model card before using a model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A model card is the README of a model repo. It protects you from wrong choices.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1581912"/>
            <a:ext cx="530352" cy="53035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63677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81912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Task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81912" y="1856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Is it trained for your use case?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6355080" y="1581912"/>
            <a:ext cx="530352" cy="53035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5080" y="163677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68312" y="1536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License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68312" y="1856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Can you use it in your project or course?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68680" y="2907792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296265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81912" y="28620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81912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What metrics and benchmark data are shown?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355080" y="2907792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55080" y="296265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068312" y="28620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68312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What should you not use it for?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868680" y="4233672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68680" y="428853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581912" y="41879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Example code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581912" y="4507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Can you reproduce the sample quickly?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355080" y="4233672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355080" y="428853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🧰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068312" y="41879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819"/>
                </a:solidFill>
              </a:rPr>
              <a:t>Framework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68312" y="4507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Does it support Transformers / PyTorch / etc.?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960120" y="5596128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819"/>
                </a:solidFill>
              </a:rPr>
              <a:t>Beginner habit: never copy a checkpoint name blindly. Read the card first.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Tokenizer: text becomes numbers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Models do not understand raw text directly. They work with token IDs.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5532120" cy="3977640"/>
          </a:xfrm>
          <a:prstGeom prst="roundRect">
            <a:avLst>
              <a:gd name="adj" fmla="val 275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7552" y="1563624"/>
            <a:ext cx="5202936" cy="3721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transformers import AutoTokenizer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tokenizer = AutoTokenizer.from_pretrained("bert-base-uncased")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text = "In a hole in the ground there lived a hobbit."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print(tokenizer(text))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output contains input_ids, token_type_ids, attention_mask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40880" y="3017520"/>
            <a:ext cx="3246120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37960" y="214884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FFF7D6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20840" y="2423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819"/>
                </a:solidFill>
              </a:rPr>
              <a:t>Raw text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"Hello world"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006840" y="2148840"/>
            <a:ext cx="1737360" cy="1417320"/>
          </a:xfrm>
          <a:prstGeom prst="roundRect">
            <a:avLst>
              <a:gd name="adj" fmla="val 7742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89720" y="2423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819"/>
                </a:solidFill>
              </a:rPr>
              <a:t>Token IDs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0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B7280"/>
                </a:solidFill>
              </a:rPr>
              <a:t>[101, 7592, 2088]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583680" y="4206240"/>
            <a:ext cx="4023360" cy="448056"/>
          </a:xfrm>
          <a:prstGeom prst="roundRect">
            <a:avLst>
              <a:gd name="adj" fmla="val 23529"/>
            </a:avLst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93408" y="4407408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AutoTokenizer loads the correct tokenizer for the checkpoint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AutoClasses: beginner-safe loading pattern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0699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AutoClasses infer the correct architecture from the checkpoint.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1417320"/>
            <a:ext cx="4434840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15453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081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AutoTokenizer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3657600" y="15453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Text tokenization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868680" y="2103120"/>
            <a:ext cx="44348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1560" y="22311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081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AutoImageProcessor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3657600" y="22311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Image preprocessing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868680" y="2788920"/>
            <a:ext cx="4434840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51560" y="29169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081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AutoProcessor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3657600" y="29169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Multimodal / layout inputs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868680" y="3474720"/>
            <a:ext cx="443484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51560" y="36027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081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AutoModelForSequenceClassification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657600" y="36027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Text classification model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868680" y="4160520"/>
            <a:ext cx="4434840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1560" y="4288536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0819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AutoModelForTokenClassification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3657600" y="42885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NER / token tagging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5897880" y="1417320"/>
            <a:ext cx="5303520" cy="3200400"/>
          </a:xfrm>
          <a:prstGeom prst="roundRect">
            <a:avLst>
              <a:gd name="adj" fmla="val 342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62472" y="1563624"/>
            <a:ext cx="4974336" cy="2944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transformers import AutoTokenizer, AutoModelForSequenceClassification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checkpoint = "distilbert-base-uncased"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tokenizer = AutoTokenizer.from_pretrained(checkpoint)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model = AutoModelForSequenceClassification.from_pretrained(checkpoint)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Same pattern works for many checkpoints.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5989320" y="4892040"/>
            <a:ext cx="5074920" cy="713232"/>
          </a:xfrm>
          <a:prstGeom prst="roundRect">
            <a:avLst>
              <a:gd name="adj" fmla="val 15385"/>
            </a:avLst>
          </a:prstGeom>
          <a:solidFill>
            <a:srgbClr val="FFF7D6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17920" y="5102352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819"/>
                </a:solidFill>
              </a:rPr>
              <a:t>Beginner rule: pipeline() is fastest for inference. AutoClasses are better when you want control.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Datasets: discover, inspect, load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Datasets are training and evaluation data. Always read the dataset card.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65392" y="1307592"/>
            <a:ext cx="4334256" cy="4242816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hf_assets/hf_datasets_clean.png"/>
          <p:cNvPicPr>
            <a:picLocks noChangeAspect="1"/>
          </p:cNvPicPr>
          <p:nvPr/>
        </p:nvPicPr>
        <p:blipFill>
          <a:blip r:embed="rId3"/>
          <a:srcRect l="5000" r="-107026"/>
          <a:stretch/>
        </p:blipFill>
        <p:spPr>
          <a:xfrm>
            <a:off x="6583680" y="1325880"/>
            <a:ext cx="4297680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 workflow: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202082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54480" y="208483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B1220"/>
                </a:solidFill>
              </a:rPr>
              <a:t>Search a dataset by task or domain</a:t>
            </a:r>
            <a:endParaRPr lang="en-US" sz="1260" dirty="0"/>
          </a:p>
        </p:txBody>
      </p:sp>
      <p:sp>
        <p:nvSpPr>
          <p:cNvPr id="12" name="Shape 8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68680" y="279806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554480" y="286207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B1220"/>
                </a:solidFill>
              </a:rPr>
              <a:t>Open dataset card and inspect columns</a:t>
            </a:r>
            <a:endParaRPr lang="en-US" sz="1260" dirty="0"/>
          </a:p>
        </p:txBody>
      </p:sp>
      <p:sp>
        <p:nvSpPr>
          <p:cNvPr id="15" name="Shape 11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68680" y="357530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554480" y="363931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B1220"/>
                </a:solidFill>
              </a:rPr>
              <a:t>Load small split first</a:t>
            </a:r>
            <a:endParaRPr lang="en-US" sz="1260" dirty="0"/>
          </a:p>
        </p:txBody>
      </p:sp>
      <p:sp>
        <p:nvSpPr>
          <p:cNvPr id="18" name="Shape 14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68680" y="435254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554480" y="44165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0B1220"/>
                </a:solidFill>
              </a:rPr>
              <a:t>Check license and data quality</a:t>
            </a:r>
            <a:endParaRPr lang="en-US" sz="1260" dirty="0"/>
          </a:p>
        </p:txBody>
      </p:sp>
      <p:sp>
        <p:nvSpPr>
          <p:cNvPr id="21" name="Shape 17"/>
          <p:cNvSpPr/>
          <p:nvPr/>
        </p:nvSpPr>
        <p:spPr>
          <a:xfrm>
            <a:off x="868680" y="489204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033272" y="5038344"/>
            <a:ext cx="47914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datasets import load_dataset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dataset = load_dataset("imdb", split="train[:100]")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print(dataset[0])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Hub filters: tasks, libraries, datasets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The Hub search page is a navigation tool. It helps you avoid random guessing.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58952" y="1399032"/>
            <a:ext cx="3419856" cy="4151376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hf_assets/hf_libraries_clean.png"/>
          <p:cNvPicPr>
            <a:picLocks noChangeAspect="1"/>
          </p:cNvPicPr>
          <p:nvPr/>
        </p:nvPicPr>
        <p:blipFill>
          <a:blip r:embed="rId3"/>
          <a:srcRect l="8399" r="8399"/>
          <a:stretch/>
        </p:blipFill>
        <p:spPr>
          <a:xfrm>
            <a:off x="777240" y="1417320"/>
            <a:ext cx="3383280" cy="4114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416552" y="1399032"/>
            <a:ext cx="3419856" cy="4151376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2" descr="/mnt/data/hf_assets/hf_tasks_clean.png"/>
          <p:cNvPicPr>
            <a:picLocks noChangeAspect="1"/>
          </p:cNvPicPr>
          <p:nvPr/>
        </p:nvPicPr>
        <p:blipFill>
          <a:blip r:embed="rId4"/>
          <a:srcRect t="17847" b="17847"/>
          <a:stretch/>
        </p:blipFill>
        <p:spPr>
          <a:xfrm>
            <a:off x="4434840" y="1417320"/>
            <a:ext cx="3383280" cy="41148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074152" y="1399032"/>
            <a:ext cx="3419856" cy="4151376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3" descr="/mnt/data/hf_assets/hf_datasets_clean.png"/>
          <p:cNvPicPr>
            <a:picLocks noChangeAspect="1"/>
          </p:cNvPicPr>
          <p:nvPr/>
        </p:nvPicPr>
        <p:blipFill>
          <a:blip r:embed="rId5"/>
          <a:srcRect t="19245" b="19245"/>
          <a:stretch/>
        </p:blipFill>
        <p:spPr>
          <a:xfrm>
            <a:off x="8092440" y="1417320"/>
            <a:ext cx="3383280" cy="41148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5650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819"/>
                </a:solidFill>
              </a:rPr>
              <a:t>Libraries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434840" y="5650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819"/>
                </a:solidFill>
              </a:rPr>
              <a:t>Tasks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092440" y="5650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819"/>
                </a:solidFill>
              </a:rPr>
              <a:t>Datasets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Spaces: try ML apps in the browser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Spaces are useful for demos, prototypes, and course projects.</a:t>
            </a:r>
            <a:endParaRPr lang="en-US" sz="1500" dirty="0"/>
          </a:p>
        </p:txBody>
      </p:sp>
      <p:pic>
        <p:nvPicPr>
          <p:cNvPr id="6" name="Image 1" descr="/mnt/data/a_bright_modern_product_desktop_scene_a_laptop_o_batch_4.png"/>
          <p:cNvPicPr>
            <a:picLocks noChangeAspect="1"/>
          </p:cNvPicPr>
          <p:nvPr/>
        </p:nvPicPr>
        <p:blipFill>
          <a:blip r:embed="rId3"/>
          <a:srcRect l="6000" r="32514" b="8000"/>
          <a:stretch/>
        </p:blipFill>
        <p:spPr>
          <a:xfrm>
            <a:off x="6309360" y="1143000"/>
            <a:ext cx="5212080" cy="4389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8680" y="1600200"/>
            <a:ext cx="566928" cy="56692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68680" y="1655064"/>
            <a:ext cx="56692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60020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0819"/>
                </a:solidFill>
              </a:rPr>
              <a:t>Deploy demos in minutes</a:t>
            </a:r>
            <a:endParaRPr lang="en-US" sz="1420" dirty="0"/>
          </a:p>
        </p:txBody>
      </p:sp>
      <p:sp>
        <p:nvSpPr>
          <p:cNvPr id="10" name="Text 6"/>
          <p:cNvSpPr/>
          <p:nvPr/>
        </p:nvSpPr>
        <p:spPr>
          <a:xfrm>
            <a:off x="1600200" y="19476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Gradio, Streamlit, Docker, and static apps are common options.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68680" y="2724912"/>
            <a:ext cx="566928" cy="566928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68680" y="2779776"/>
            <a:ext cx="56692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00200" y="27706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0819"/>
                </a:solidFill>
              </a:rPr>
              <a:t>Test models interactively</a:t>
            </a:r>
            <a:endParaRPr lang="en-US" sz="1420" dirty="0"/>
          </a:p>
        </p:txBody>
      </p:sp>
      <p:sp>
        <p:nvSpPr>
          <p:cNvPr id="14" name="Text 10"/>
          <p:cNvSpPr/>
          <p:nvPr/>
        </p:nvSpPr>
        <p:spPr>
          <a:xfrm>
            <a:off x="1600200" y="307238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Students can try inputs without writing backend code first.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68680" y="3849624"/>
            <a:ext cx="566928" cy="566928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68680" y="3904488"/>
            <a:ext cx="566928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600200" y="3895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0819"/>
                </a:solidFill>
              </a:rPr>
              <a:t>Share project links</a:t>
            </a:r>
            <a:endParaRPr lang="en-US" sz="1420" dirty="0"/>
          </a:p>
        </p:txBody>
      </p:sp>
      <p:sp>
        <p:nvSpPr>
          <p:cNvPr id="18" name="Text 14"/>
          <p:cNvSpPr/>
          <p:nvPr/>
        </p:nvSpPr>
        <p:spPr>
          <a:xfrm>
            <a:off x="1600200" y="419709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Perfect for portfolio demos and tutorials.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60120" y="5257800"/>
            <a:ext cx="4846320" cy="310896"/>
          </a:xfrm>
          <a:prstGeom prst="roundRect">
            <a:avLst>
              <a:gd name="adj" fmla="val 23529"/>
            </a:avLst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069848" y="5321808"/>
            <a:ext cx="4626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Use Spaces when you want students to see the model working visually.</a:t>
            </a:r>
            <a:endParaRPr lang="en-US" sz="1120" dirty="0"/>
          </a:p>
        </p:txBody>
      </p:sp>
      <p:sp>
        <p:nvSpPr>
          <p:cNvPr id="25" name="Text 21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2: speech recognition pipeline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This example turns an audio file into text using a pretrained ASR model.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5623560" cy="3886200"/>
          </a:xfrm>
          <a:prstGeom prst="roundRect">
            <a:avLst>
              <a:gd name="adj" fmla="val 28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7552" y="1563624"/>
            <a:ext cx="5294376" cy="3630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transformers import pipeline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transcriber = pipeline(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task="automatic-speech-recognition"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url = "https://huggingface.co/datasets/Narsil/asr_dummy/resolve/main/mlk.flac"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print(transcriber(url))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02552" y="1399032"/>
            <a:ext cx="4425696" cy="3282696"/>
          </a:xfrm>
          <a:prstGeom prst="roundRect">
            <a:avLst>
              <a:gd name="adj" fmla="val 33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hf_assets/page10_conten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82557"/>
            <a:ext cx="4389120" cy="211564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20840" y="4983480"/>
            <a:ext cx="4389120" cy="658368"/>
          </a:xfrm>
          <a:prstGeom prst="roundRect">
            <a:avLst>
              <a:gd name="adj" fmla="val 16667"/>
            </a:avLst>
          </a:prstGeom>
          <a:solidFill>
            <a:srgbClr val="FFF7D6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995160" y="5193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0819"/>
                </a:solidFill>
              </a:rPr>
              <a:t>Same pattern: task name + input → readable output.</a:t>
            </a:r>
            <a:endParaRPr lang="en-US" sz="1220" dirty="0"/>
          </a:p>
        </p:txBody>
      </p:sp>
      <p:sp>
        <p:nvSpPr>
          <p:cNvPr id="16" name="Text 12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Fine-tuning: when pretrained is not enough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Fine-tuning adapts a pretrained model to your own dataset and task.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468880" y="2487168"/>
            <a:ext cx="1920240" cy="0"/>
          </a:xfrm>
          <a:prstGeom prst="line">
            <a:avLst/>
          </a:prstGeom>
          <a:noFill/>
          <a:ln w="1524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0" y="2487168"/>
            <a:ext cx="1920240" cy="0"/>
          </a:xfrm>
          <a:prstGeom prst="line">
            <a:avLst/>
          </a:prstGeom>
          <a:noFill/>
          <a:ln w="1524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458200" y="2487168"/>
            <a:ext cx="1920240" cy="0"/>
          </a:xfrm>
          <a:prstGeom prst="line">
            <a:avLst/>
          </a:prstGeom>
          <a:noFill/>
          <a:ln w="1524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1847088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69848" y="217627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69848" y="223113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73352" y="2148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00819"/>
                </a:solidFill>
              </a:rPr>
              <a:t>Dataset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1673352" y="24597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Clean examples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840480" y="1847088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041648" y="217627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41648" y="223113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45152" y="2148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00819"/>
                </a:solidFill>
              </a:rPr>
              <a:t>Tokenizer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4645152" y="24597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Convert inputs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812280" y="1847088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013448" y="217627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13448" y="223113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🏋️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16952" y="2148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00819"/>
                </a:solidFill>
              </a:rPr>
              <a:t>Trainer</a:t>
            </a:r>
            <a:endParaRPr lang="en-US" sz="1320" dirty="0"/>
          </a:p>
        </p:txBody>
      </p:sp>
      <p:sp>
        <p:nvSpPr>
          <p:cNvPr id="23" name="Text 20"/>
          <p:cNvSpPr/>
          <p:nvPr/>
        </p:nvSpPr>
        <p:spPr>
          <a:xfrm>
            <a:off x="7616952" y="24597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Train model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9784080" y="1847088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985248" y="2176272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985248" y="2231136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588752" y="2148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00819"/>
                </a:solidFill>
              </a:rPr>
              <a:t>Evaluate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10588752" y="24597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Check metrics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1188720" y="3977640"/>
            <a:ext cx="9829800" cy="1097280"/>
          </a:xfrm>
          <a:prstGeom prst="roundRect">
            <a:avLst>
              <a:gd name="adj" fmla="val 10000"/>
            </a:avLst>
          </a:prstGeom>
          <a:solidFill>
            <a:srgbClr val="000819"/>
          </a:solidFill>
          <a:ln w="12700">
            <a:solidFill>
              <a:srgbClr val="000819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508760" y="4361688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Do not start with fine-tuning. First learn inference, checkpoint selection, and datasets. Fine-tuning is step two.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image(30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366" y="219456"/>
            <a:ext cx="1670428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choose the right model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Use this checklist before using any checkpoint in a tutorial or project.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60120" y="1417320"/>
            <a:ext cx="3497580" cy="693420"/>
          </a:xfrm>
          <a:prstGeom prst="rect">
            <a:avLst/>
          </a:prstGeom>
          <a:solidFill>
            <a:srgbClr val="000819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33272" y="1490472"/>
            <a:ext cx="335127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Question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457700" y="1417320"/>
            <a:ext cx="6789420" cy="693420"/>
          </a:xfrm>
          <a:prstGeom prst="rect">
            <a:avLst/>
          </a:prstGeom>
          <a:solidFill>
            <a:srgbClr val="000819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30852" y="1490472"/>
            <a:ext cx="664311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to check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60120" y="2110740"/>
            <a:ext cx="3497580" cy="693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33272" y="2183892"/>
            <a:ext cx="335127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Is it for my task?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57700" y="2110740"/>
            <a:ext cx="6789420" cy="693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30852" y="2183892"/>
            <a:ext cx="664311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Task tag, model card examples, pipeline support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60120" y="2804160"/>
            <a:ext cx="3497580" cy="6934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33272" y="2877312"/>
            <a:ext cx="335127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Can I use it legally?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457700" y="2804160"/>
            <a:ext cx="6789420" cy="6934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30852" y="2877312"/>
            <a:ext cx="664311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License, commercial restrictions, gated access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60120" y="3497580"/>
            <a:ext cx="3497580" cy="693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33272" y="3570732"/>
            <a:ext cx="335127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Will it run on my machine?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57700" y="3497580"/>
            <a:ext cx="6789420" cy="693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30852" y="3570732"/>
            <a:ext cx="664311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Model size, RAM/VRAM, quantized versions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60120" y="4191000"/>
            <a:ext cx="3497580" cy="6934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33272" y="4264152"/>
            <a:ext cx="335127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Is it reliable enough?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457700" y="4191000"/>
            <a:ext cx="6789420" cy="6934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30852" y="4264152"/>
            <a:ext cx="664311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Evaluation metrics, known limitations, recent updates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60120" y="4884420"/>
            <a:ext cx="3497580" cy="693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33272" y="4957572"/>
            <a:ext cx="335127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Can students reproduce it?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457700" y="4884420"/>
            <a:ext cx="6789420" cy="693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530852" y="4957572"/>
            <a:ext cx="6643116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220"/>
                </a:solidFill>
              </a:rPr>
              <a:t>Simple code, downloads, stable dependencies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60120" y="580644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000819"/>
                </a:solidFill>
              </a:rPr>
              <a:t>Best beginner default: use a small, popular, well-documented model first. Upgrade only after the workflow works.</a:t>
            </a:r>
            <a:endParaRPr lang="en-US" sz="1370" dirty="0"/>
          </a:p>
        </p:txBody>
      </p:sp>
      <p:sp>
        <p:nvSpPr>
          <p:cNvPr id="31" name="Text 28"/>
          <p:cNvSpPr/>
          <p:nvPr/>
        </p:nvSpPr>
        <p:spPr>
          <a:xfrm>
            <a:off x="502920" y="64282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KGP Talkie • Hugging Face Introduction</a:t>
            </a:r>
            <a:endParaRPr lang="en-US" sz="1080" dirty="0"/>
          </a:p>
        </p:txBody>
      </p:sp>
      <p:sp>
        <p:nvSpPr>
          <p:cNvPr id="32" name="Text 29">
            <a:hlinkClick r:id="rId4"/>
          </p:cNvPr>
          <p:cNvSpPr/>
          <p:nvPr/>
        </p:nvSpPr>
        <p:spPr>
          <a:xfrm>
            <a:off x="3977640" y="64282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youtube.com/kgptalkie</a:t>
            </a:r>
            <a:endParaRPr lang="en-US" sz="1080" dirty="0"/>
          </a:p>
        </p:txBody>
      </p:sp>
      <p:sp>
        <p:nvSpPr>
          <p:cNvPr id="33" name="Text 30">
            <a:hlinkClick r:id="rId5"/>
          </p:cNvPr>
          <p:cNvSpPr/>
          <p:nvPr/>
        </p:nvSpPr>
        <p:spPr>
          <a:xfrm>
            <a:off x="5989320" y="64282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kgptalkie.com</a:t>
            </a:r>
            <a:endParaRPr lang="en-US" sz="1080" dirty="0"/>
          </a:p>
        </p:txBody>
      </p:sp>
      <p:sp>
        <p:nvSpPr>
          <p:cNvPr id="34" name="Text 31">
            <a:hlinkClick r:id="rId6"/>
          </p:cNvPr>
          <p:cNvSpPr/>
          <p:nvPr/>
        </p:nvSpPr>
        <p:spPr>
          <a:xfrm>
            <a:off x="7406640" y="642823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linkedin.com/in/laxmimerit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beginner errors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Most issues are setup or checkpoint-choice problems, not Hugging Face itself.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" y="137160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9848" y="160020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69848" y="165506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73352" y="1572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00819"/>
                </a:solidFill>
              </a:rPr>
              <a:t>ModuleNotFoundError</a:t>
            </a:r>
            <a:endParaRPr lang="en-US" sz="1270" dirty="0"/>
          </a:p>
        </p:txBody>
      </p:sp>
      <p:sp>
        <p:nvSpPr>
          <p:cNvPr id="10" name="Text 7"/>
          <p:cNvSpPr/>
          <p:nvPr/>
        </p:nvSpPr>
        <p:spPr>
          <a:xfrm>
            <a:off x="1673352" y="1874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Install the missing library in the active environment.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172200" y="137160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73368" y="1600200"/>
            <a:ext cx="502920" cy="50292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73368" y="165506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976872" y="1572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00819"/>
                </a:solidFill>
              </a:rPr>
              <a:t>401 / gated model</a:t>
            </a:r>
            <a:endParaRPr lang="en-US" sz="1270" dirty="0"/>
          </a:p>
        </p:txBody>
      </p:sp>
      <p:sp>
        <p:nvSpPr>
          <p:cNvPr id="15" name="Text 12"/>
          <p:cNvSpPr/>
          <p:nvPr/>
        </p:nvSpPr>
        <p:spPr>
          <a:xfrm>
            <a:off x="6976872" y="18745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Login with token or choose an open model.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868680" y="269748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69848" y="2926080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69848" y="298094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73352" y="2898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00819"/>
                </a:solidFill>
              </a:rPr>
              <a:t>Out of memory</a:t>
            </a:r>
            <a:endParaRPr lang="en-US" sz="1270" dirty="0"/>
          </a:p>
        </p:txBody>
      </p:sp>
      <p:sp>
        <p:nvSpPr>
          <p:cNvPr id="20" name="Text 17"/>
          <p:cNvSpPr/>
          <p:nvPr/>
        </p:nvSpPr>
        <p:spPr>
          <a:xfrm>
            <a:off x="1673352" y="3200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Use smaller model, CPU, quantization, or Colab/GPU.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6172200" y="269748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373368" y="2926080"/>
            <a:ext cx="502920" cy="50292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73368" y="298094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76872" y="2898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00819"/>
                </a:solidFill>
              </a:rPr>
              <a:t>Slow download</a:t>
            </a:r>
            <a:endParaRPr lang="en-US" sz="1270" dirty="0"/>
          </a:p>
        </p:txBody>
      </p:sp>
      <p:sp>
        <p:nvSpPr>
          <p:cNvPr id="25" name="Text 22"/>
          <p:cNvSpPr/>
          <p:nvPr/>
        </p:nvSpPr>
        <p:spPr>
          <a:xfrm>
            <a:off x="6976872" y="3200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Model files are large; cache is reused after first download.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868680" y="402336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069848" y="4251960"/>
            <a:ext cx="502920" cy="5029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69848" y="430682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73352" y="4224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00819"/>
                </a:solidFill>
              </a:rPr>
              <a:t>Wrong task</a:t>
            </a:r>
            <a:endParaRPr lang="en-US" sz="1270" dirty="0"/>
          </a:p>
        </p:txBody>
      </p:sp>
      <p:sp>
        <p:nvSpPr>
          <p:cNvPr id="30" name="Text 27"/>
          <p:cNvSpPr/>
          <p:nvPr/>
        </p:nvSpPr>
        <p:spPr>
          <a:xfrm>
            <a:off x="1673352" y="4526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Choose checkpoint trained for the exact task.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6172200" y="402336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373368" y="4251960"/>
            <a:ext cx="502920" cy="50292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373368" y="4306824"/>
            <a:ext cx="50292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📜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976872" y="4224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00819"/>
                </a:solidFill>
              </a:rPr>
              <a:t>License confusion</a:t>
            </a:r>
            <a:endParaRPr lang="en-US" sz="1270" dirty="0"/>
          </a:p>
        </p:txBody>
      </p:sp>
      <p:sp>
        <p:nvSpPr>
          <p:cNvPr id="35" name="Text 32"/>
          <p:cNvSpPr/>
          <p:nvPr/>
        </p:nvSpPr>
        <p:spPr>
          <a:xfrm>
            <a:off x="6976872" y="45262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Read the model card before public/commercial use.</a:t>
            </a:r>
            <a:endParaRPr lang="en-US" sz="960" dirty="0"/>
          </a:p>
        </p:txBody>
      </p:sp>
      <p:sp>
        <p:nvSpPr>
          <p:cNvPr id="40" name="Text 37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The simplest Hugging Face learning formula.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4972" y="242316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25312" y="242316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45652" y="2423160"/>
            <a:ext cx="384048" cy="0"/>
          </a:xfrm>
          <a:prstGeom prst="line">
            <a:avLst/>
          </a:prstGeom>
          <a:noFill/>
          <a:ln w="16510">
            <a:solidFill>
              <a:srgbClr val="00081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" y="1920240"/>
            <a:ext cx="24003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69264" y="2139696"/>
            <a:ext cx="530352" cy="530352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69264" y="21945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00200" y="2167128"/>
            <a:ext cx="1485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Task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600200" y="2441448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What do you want to do?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3543300" y="1920240"/>
            <a:ext cx="24003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89604" y="2139696"/>
            <a:ext cx="530352" cy="530352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89604" y="21945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320540" y="2167128"/>
            <a:ext cx="1485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Checkpoint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320540" y="2441448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Which model fits the task?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263640" y="1920240"/>
            <a:ext cx="24003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409944" y="2139696"/>
            <a:ext cx="530352" cy="53035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9944" y="21945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040880" y="2167128"/>
            <a:ext cx="1485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Pipeline / AutoClass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040880" y="2441448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How will you load it?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8983980" y="1920240"/>
            <a:ext cx="24003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130284" y="2139696"/>
            <a:ext cx="530352" cy="530352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130284" y="2194560"/>
            <a:ext cx="53035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761220" y="2167128"/>
            <a:ext cx="1485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0819"/>
                </a:solidFill>
              </a:rPr>
              <a:t>Output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761220" y="2441448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B7280"/>
                </a:solidFill>
              </a:rPr>
              <a:t>How will you evaluate it?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1051560" y="470916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819"/>
                </a:solidFill>
              </a:rPr>
              <a:t>Start with pipeline(). Grow into AutoClasses, Datasets, Spaces, and fine-tuning after the basic workflow is clear.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4D"/>
          </a:solidFill>
          <a:ln w="12700">
            <a:solidFill>
              <a:srgbClr val="FFCC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4389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08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used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1792" y="9875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Sources for facts, structure, and beginner examples.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15068" y="1380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819"/>
                </a:solidFill>
              </a:rPr>
              <a:t>Uploaded source PDF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9080" y="132588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Hugging Face Introduction.pdf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920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819"/>
                </a:solidFill>
              </a:rPr>
              <a:t>Hugging Face homepage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69080" y="192024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https://huggingface.co/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819"/>
                </a:solidFill>
              </a:rPr>
              <a:t>Hugging Face Hub documentation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69080" y="251460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https://huggingface.co/docs/hub/en/index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3108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819"/>
                </a:solidFill>
              </a:rPr>
              <a:t>Transformers pipeline tutorial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69080" y="310896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https://huggingface.co/docs/transformers/en/pipeline_tutorial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819"/>
                </a:solidFill>
              </a:rPr>
              <a:t>Transformers pipelines reference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69080" y="370332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https://huggingface.co/docs/transformers/en/main_classes/pipelines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4297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819"/>
                </a:solidFill>
              </a:rPr>
              <a:t>Model cards documentation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69080" y="429768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https://huggingface.co/docs/hub/en/model-cards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819"/>
                </a:solidFill>
              </a:rPr>
              <a:t>Spaces overview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069080" y="4892040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https://huggingface.co/docs/hub/en/spaces-overview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" y="5742432"/>
            <a:ext cx="10332720" cy="530352"/>
          </a:xfrm>
          <a:prstGeom prst="roundRect">
            <a:avLst>
              <a:gd name="adj" fmla="val 20690"/>
            </a:avLst>
          </a:prstGeom>
          <a:solidFill>
            <a:srgbClr val="FFF7D6"/>
          </a:solidFill>
          <a:ln w="12700">
            <a:solidFill>
              <a:srgbClr val="E2E8F0"/>
            </a:solidFill>
            <a:prstDash val="solid"/>
          </a:ln>
          <a:effectLst>
            <a:outerShdw blurRad="1905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43000" y="5916168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0819"/>
                </a:solidFill>
              </a:rPr>
              <a:t>Note: model/dataset counts change frequently. Treat public Hub numbers as current-context examples, not fixed course facts.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08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2039</Words>
  <Application>Microsoft Office PowerPoint</Application>
  <PresentationFormat>Widescreen</PresentationFormat>
  <Paragraphs>431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Hugging Face Introduction</dc:title>
  <dc:subject>Hugging Face Introduction for Beginners</dc:subject>
  <dc:creator>OpenAI</dc:creator>
  <cp:lastModifiedBy>Bhandari, Miraj</cp:lastModifiedBy>
  <cp:revision>24</cp:revision>
  <dcterms:created xsi:type="dcterms:W3CDTF">2026-06-14T06:23:33Z</dcterms:created>
  <dcterms:modified xsi:type="dcterms:W3CDTF">2026-07-19T06:55:31Z</dcterms:modified>
</cp:coreProperties>
</file>