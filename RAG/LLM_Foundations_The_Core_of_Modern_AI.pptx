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9" d="100"/>
          <a:sy n="129" d="100"/>
        </p:scale>
        <p:origin x="12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ndari, Miraj" userId="0d44bc06-2b8f-40ab-92c6-f4fd8615fd13" providerId="ADAL" clId="{EF3D1119-16C9-4ABB-BA8B-B310D4070A74}"/>
    <pc:docChg chg="custSel modSld">
      <pc:chgData name="Bhandari, Miraj" userId="0d44bc06-2b8f-40ab-92c6-f4fd8615fd13" providerId="ADAL" clId="{EF3D1119-16C9-4ABB-BA8B-B310D4070A74}" dt="2026-07-17T07:18:11.771" v="5" actId="2711"/>
      <pc:docMkLst>
        <pc:docMk/>
      </pc:docMkLst>
      <pc:sldChg chg="delSp mod">
        <pc:chgData name="Bhandari, Miraj" userId="0d44bc06-2b8f-40ab-92c6-f4fd8615fd13" providerId="ADAL" clId="{EF3D1119-16C9-4ABB-BA8B-B310D4070A74}" dt="2026-07-16T14:57:51.697" v="0" actId="478"/>
        <pc:sldMkLst>
          <pc:docMk/>
          <pc:sldMk cId="0" sldId="256"/>
        </pc:sldMkLst>
        <pc:spChg chg="del">
          <ac:chgData name="Bhandari, Miraj" userId="0d44bc06-2b8f-40ab-92c6-f4fd8615fd13" providerId="ADAL" clId="{EF3D1119-16C9-4ABB-BA8B-B310D4070A74}" dt="2026-07-16T14:57:51.697" v="0" actId="478"/>
          <ac:spMkLst>
            <pc:docMk/>
            <pc:sldMk cId="0" sldId="256"/>
            <ac:spMk id="8" creationId="{00000000-0000-0000-0000-000000000000}"/>
          </ac:spMkLst>
        </pc:spChg>
      </pc:sldChg>
      <pc:sldChg chg="modSp mod">
        <pc:chgData name="Bhandari, Miraj" userId="0d44bc06-2b8f-40ab-92c6-f4fd8615fd13" providerId="ADAL" clId="{EF3D1119-16C9-4ABB-BA8B-B310D4070A74}" dt="2026-07-17T07:18:11.771" v="5" actId="2711"/>
        <pc:sldMkLst>
          <pc:docMk/>
          <pc:sldMk cId="0" sldId="264"/>
        </pc:sldMkLst>
        <pc:spChg chg="mod">
          <ac:chgData name="Bhandari, Miraj" userId="0d44bc06-2b8f-40ab-92c6-f4fd8615fd13" providerId="ADAL" clId="{EF3D1119-16C9-4ABB-BA8B-B310D4070A74}" dt="2026-07-17T07:18:11.771" v="5" actId="2711"/>
          <ac:spMkLst>
            <pc:docMk/>
            <pc:sldMk cId="0" sldId="264"/>
            <ac:spMk id="3" creationId="{00000000-0000-0000-0000-000000000000}"/>
          </ac:spMkLst>
        </pc:spChg>
        <pc:spChg chg="mod">
          <ac:chgData name="Bhandari, Miraj" userId="0d44bc06-2b8f-40ab-92c6-f4fd8615fd13" providerId="ADAL" clId="{EF3D1119-16C9-4ABB-BA8B-B310D4070A74}" dt="2026-07-17T07:18:11.771" v="5" actId="2711"/>
          <ac:spMkLst>
            <pc:docMk/>
            <pc:sldMk cId="0" sldId="264"/>
            <ac:spMk id="4" creationId="{00000000-0000-0000-0000-000000000000}"/>
          </ac:spMkLst>
        </pc:spChg>
        <pc:spChg chg="mod">
          <ac:chgData name="Bhandari, Miraj" userId="0d44bc06-2b8f-40ab-92c6-f4fd8615fd13" providerId="ADAL" clId="{EF3D1119-16C9-4ABB-BA8B-B310D4070A74}" dt="2026-07-17T07:18:11.771" v="5" actId="2711"/>
          <ac:spMkLst>
            <pc:docMk/>
            <pc:sldMk cId="0" sldId="264"/>
            <ac:spMk id="5" creationId="{00000000-0000-0000-0000-000000000000}"/>
          </ac:spMkLst>
        </pc:spChg>
        <pc:spChg chg="mod">
          <ac:chgData name="Bhandari, Miraj" userId="0d44bc06-2b8f-40ab-92c6-f4fd8615fd13" providerId="ADAL" clId="{EF3D1119-16C9-4ABB-BA8B-B310D4070A74}" dt="2026-07-17T07:18:11.771" v="5" actId="2711"/>
          <ac:spMkLst>
            <pc:docMk/>
            <pc:sldMk cId="0" sldId="264"/>
            <ac:spMk id="6" creationId="{00000000-0000-0000-0000-000000000000}"/>
          </ac:spMkLst>
        </pc:spChg>
        <pc:spChg chg="mod">
          <ac:chgData name="Bhandari, Miraj" userId="0d44bc06-2b8f-40ab-92c6-f4fd8615fd13" providerId="ADAL" clId="{EF3D1119-16C9-4ABB-BA8B-B310D4070A74}" dt="2026-07-17T07:18:11.771" v="5" actId="2711"/>
          <ac:spMkLst>
            <pc:docMk/>
            <pc:sldMk cId="0" sldId="264"/>
            <ac:spMk id="7" creationId="{00000000-0000-0000-0000-000000000000}"/>
          </ac:spMkLst>
        </pc:spChg>
        <pc:spChg chg="mod">
          <ac:chgData name="Bhandari, Miraj" userId="0d44bc06-2b8f-40ab-92c6-f4fd8615fd13" providerId="ADAL" clId="{EF3D1119-16C9-4ABB-BA8B-B310D4070A74}" dt="2026-07-17T07:18:11.771" v="5" actId="2711"/>
          <ac:spMkLst>
            <pc:docMk/>
            <pc:sldMk cId="0" sldId="264"/>
            <ac:spMk id="8" creationId="{00000000-0000-0000-0000-000000000000}"/>
          </ac:spMkLst>
        </pc:spChg>
        <pc:spChg chg="mod">
          <ac:chgData name="Bhandari, Miraj" userId="0d44bc06-2b8f-40ab-92c6-f4fd8615fd13" providerId="ADAL" clId="{EF3D1119-16C9-4ABB-BA8B-B310D4070A74}" dt="2026-07-17T07:18:11.771" v="5" actId="2711"/>
          <ac:spMkLst>
            <pc:docMk/>
            <pc:sldMk cId="0" sldId="264"/>
            <ac:spMk id="9" creationId="{00000000-0000-0000-0000-000000000000}"/>
          </ac:spMkLst>
        </pc:spChg>
        <pc:spChg chg="mod">
          <ac:chgData name="Bhandari, Miraj" userId="0d44bc06-2b8f-40ab-92c6-f4fd8615fd13" providerId="ADAL" clId="{EF3D1119-16C9-4ABB-BA8B-B310D4070A74}" dt="2026-07-17T07:18:11.771" v="5" actId="2711"/>
          <ac:spMkLst>
            <pc:docMk/>
            <pc:sldMk cId="0" sldId="264"/>
            <ac:spMk id="10" creationId="{00000000-0000-0000-0000-000000000000}"/>
          </ac:spMkLst>
        </pc:spChg>
        <pc:spChg chg="mod">
          <ac:chgData name="Bhandari, Miraj" userId="0d44bc06-2b8f-40ab-92c6-f4fd8615fd13" providerId="ADAL" clId="{EF3D1119-16C9-4ABB-BA8B-B310D4070A74}" dt="2026-07-17T07:18:11.771" v="5" actId="2711"/>
          <ac:spMkLst>
            <pc:docMk/>
            <pc:sldMk cId="0" sldId="264"/>
            <ac:spMk id="11" creationId="{00000000-0000-0000-0000-000000000000}"/>
          </ac:spMkLst>
        </pc:spChg>
      </pc:sldChg>
      <pc:sldChg chg="modSp mod">
        <pc:chgData name="Bhandari, Miraj" userId="0d44bc06-2b8f-40ab-92c6-f4fd8615fd13" providerId="ADAL" clId="{EF3D1119-16C9-4ABB-BA8B-B310D4070A74}" dt="2026-07-17T07:18:02.352" v="4" actId="2711"/>
        <pc:sldMkLst>
          <pc:docMk/>
          <pc:sldMk cId="0" sldId="265"/>
        </pc:sldMkLst>
        <pc:spChg chg="mod">
          <ac:chgData name="Bhandari, Miraj" userId="0d44bc06-2b8f-40ab-92c6-f4fd8615fd13" providerId="ADAL" clId="{EF3D1119-16C9-4ABB-BA8B-B310D4070A74}" dt="2026-07-17T07:18:02.352" v="4" actId="2711"/>
          <ac:spMkLst>
            <pc:docMk/>
            <pc:sldMk cId="0" sldId="265"/>
            <ac:spMk id="3" creationId="{00000000-0000-0000-0000-000000000000}"/>
          </ac:spMkLst>
        </pc:spChg>
        <pc:spChg chg="mod">
          <ac:chgData name="Bhandari, Miraj" userId="0d44bc06-2b8f-40ab-92c6-f4fd8615fd13" providerId="ADAL" clId="{EF3D1119-16C9-4ABB-BA8B-B310D4070A74}" dt="2026-07-17T07:18:02.352" v="4" actId="2711"/>
          <ac:spMkLst>
            <pc:docMk/>
            <pc:sldMk cId="0" sldId="265"/>
            <ac:spMk id="4" creationId="{00000000-0000-0000-0000-000000000000}"/>
          </ac:spMkLst>
        </pc:spChg>
        <pc:spChg chg="mod">
          <ac:chgData name="Bhandari, Miraj" userId="0d44bc06-2b8f-40ab-92c6-f4fd8615fd13" providerId="ADAL" clId="{EF3D1119-16C9-4ABB-BA8B-B310D4070A74}" dt="2026-07-17T07:18:02.352" v="4" actId="2711"/>
          <ac:spMkLst>
            <pc:docMk/>
            <pc:sldMk cId="0" sldId="265"/>
            <ac:spMk id="5" creationId="{00000000-0000-0000-0000-000000000000}"/>
          </ac:spMkLst>
        </pc:spChg>
        <pc:spChg chg="mod">
          <ac:chgData name="Bhandari, Miraj" userId="0d44bc06-2b8f-40ab-92c6-f4fd8615fd13" providerId="ADAL" clId="{EF3D1119-16C9-4ABB-BA8B-B310D4070A74}" dt="2026-07-17T07:18:02.352" v="4" actId="2711"/>
          <ac:spMkLst>
            <pc:docMk/>
            <pc:sldMk cId="0" sldId="265"/>
            <ac:spMk id="6" creationId="{00000000-0000-0000-0000-000000000000}"/>
          </ac:spMkLst>
        </pc:spChg>
        <pc:spChg chg="mod">
          <ac:chgData name="Bhandari, Miraj" userId="0d44bc06-2b8f-40ab-92c6-f4fd8615fd13" providerId="ADAL" clId="{EF3D1119-16C9-4ABB-BA8B-B310D4070A74}" dt="2026-07-17T07:18:02.352" v="4" actId="2711"/>
          <ac:spMkLst>
            <pc:docMk/>
            <pc:sldMk cId="0" sldId="265"/>
            <ac:spMk id="7" creationId="{00000000-0000-0000-0000-000000000000}"/>
          </ac:spMkLst>
        </pc:spChg>
        <pc:spChg chg="mod">
          <ac:chgData name="Bhandari, Miraj" userId="0d44bc06-2b8f-40ab-92c6-f4fd8615fd13" providerId="ADAL" clId="{EF3D1119-16C9-4ABB-BA8B-B310D4070A74}" dt="2026-07-17T07:18:02.352" v="4" actId="2711"/>
          <ac:spMkLst>
            <pc:docMk/>
            <pc:sldMk cId="0" sldId="265"/>
            <ac:spMk id="8" creationId="{00000000-0000-0000-0000-000000000000}"/>
          </ac:spMkLst>
        </pc:spChg>
        <pc:spChg chg="mod">
          <ac:chgData name="Bhandari, Miraj" userId="0d44bc06-2b8f-40ab-92c6-f4fd8615fd13" providerId="ADAL" clId="{EF3D1119-16C9-4ABB-BA8B-B310D4070A74}" dt="2026-07-17T07:18:02.352" v="4" actId="2711"/>
          <ac:spMkLst>
            <pc:docMk/>
            <pc:sldMk cId="0" sldId="265"/>
            <ac:spMk id="9" creationId="{00000000-0000-0000-0000-000000000000}"/>
          </ac:spMkLst>
        </pc:spChg>
        <pc:spChg chg="mod">
          <ac:chgData name="Bhandari, Miraj" userId="0d44bc06-2b8f-40ab-92c6-f4fd8615fd13" providerId="ADAL" clId="{EF3D1119-16C9-4ABB-BA8B-B310D4070A74}" dt="2026-07-17T07:18:02.352" v="4" actId="2711"/>
          <ac:spMkLst>
            <pc:docMk/>
            <pc:sldMk cId="0" sldId="265"/>
            <ac:spMk id="10" creationId="{00000000-0000-0000-0000-000000000000}"/>
          </ac:spMkLst>
        </pc:spChg>
        <pc:spChg chg="mod">
          <ac:chgData name="Bhandari, Miraj" userId="0d44bc06-2b8f-40ab-92c6-f4fd8615fd13" providerId="ADAL" clId="{EF3D1119-16C9-4ABB-BA8B-B310D4070A74}" dt="2026-07-17T07:18:02.352" v="4" actId="2711"/>
          <ac:spMkLst>
            <pc:docMk/>
            <pc:sldMk cId="0" sldId="265"/>
            <ac:spMk id="11" creationId="{00000000-0000-0000-0000-000000000000}"/>
          </ac:spMkLst>
        </pc:spChg>
      </pc:sldChg>
      <pc:sldChg chg="delSp modSp mod">
        <pc:chgData name="Bhandari, Miraj" userId="0d44bc06-2b8f-40ab-92c6-f4fd8615fd13" providerId="ADAL" clId="{EF3D1119-16C9-4ABB-BA8B-B310D4070A74}" dt="2026-07-17T07:17:41.030" v="3" actId="2711"/>
        <pc:sldMkLst>
          <pc:docMk/>
          <pc:sldMk cId="0" sldId="268"/>
        </pc:sldMkLst>
        <pc:spChg chg="mod">
          <ac:chgData name="Bhandari, Miraj" userId="0d44bc06-2b8f-40ab-92c6-f4fd8615fd13" providerId="ADAL" clId="{EF3D1119-16C9-4ABB-BA8B-B310D4070A74}" dt="2026-07-17T07:17:41.030" v="3" actId="2711"/>
          <ac:spMkLst>
            <pc:docMk/>
            <pc:sldMk cId="0" sldId="268"/>
            <ac:spMk id="3" creationId="{00000000-0000-0000-0000-000000000000}"/>
          </ac:spMkLst>
        </pc:spChg>
        <pc:spChg chg="mod">
          <ac:chgData name="Bhandari, Miraj" userId="0d44bc06-2b8f-40ab-92c6-f4fd8615fd13" providerId="ADAL" clId="{EF3D1119-16C9-4ABB-BA8B-B310D4070A74}" dt="2026-07-17T07:17:41.030" v="3" actId="2711"/>
          <ac:spMkLst>
            <pc:docMk/>
            <pc:sldMk cId="0" sldId="268"/>
            <ac:spMk id="4" creationId="{00000000-0000-0000-0000-000000000000}"/>
          </ac:spMkLst>
        </pc:spChg>
        <pc:spChg chg="mod">
          <ac:chgData name="Bhandari, Miraj" userId="0d44bc06-2b8f-40ab-92c6-f4fd8615fd13" providerId="ADAL" clId="{EF3D1119-16C9-4ABB-BA8B-B310D4070A74}" dt="2026-07-17T07:17:41.030" v="3" actId="2711"/>
          <ac:spMkLst>
            <pc:docMk/>
            <pc:sldMk cId="0" sldId="268"/>
            <ac:spMk id="5" creationId="{00000000-0000-0000-0000-000000000000}"/>
          </ac:spMkLst>
        </pc:spChg>
        <pc:spChg chg="mod">
          <ac:chgData name="Bhandari, Miraj" userId="0d44bc06-2b8f-40ab-92c6-f4fd8615fd13" providerId="ADAL" clId="{EF3D1119-16C9-4ABB-BA8B-B310D4070A74}" dt="2026-07-17T07:17:41.030" v="3" actId="2711"/>
          <ac:spMkLst>
            <pc:docMk/>
            <pc:sldMk cId="0" sldId="268"/>
            <ac:spMk id="6" creationId="{00000000-0000-0000-0000-000000000000}"/>
          </ac:spMkLst>
        </pc:spChg>
        <pc:spChg chg="mod">
          <ac:chgData name="Bhandari, Miraj" userId="0d44bc06-2b8f-40ab-92c6-f4fd8615fd13" providerId="ADAL" clId="{EF3D1119-16C9-4ABB-BA8B-B310D4070A74}" dt="2026-07-17T07:17:41.030" v="3" actId="2711"/>
          <ac:spMkLst>
            <pc:docMk/>
            <pc:sldMk cId="0" sldId="268"/>
            <ac:spMk id="7" creationId="{00000000-0000-0000-0000-000000000000}"/>
          </ac:spMkLst>
        </pc:spChg>
        <pc:spChg chg="mod">
          <ac:chgData name="Bhandari, Miraj" userId="0d44bc06-2b8f-40ab-92c6-f4fd8615fd13" providerId="ADAL" clId="{EF3D1119-16C9-4ABB-BA8B-B310D4070A74}" dt="2026-07-17T07:17:41.030" v="3" actId="2711"/>
          <ac:spMkLst>
            <pc:docMk/>
            <pc:sldMk cId="0" sldId="268"/>
            <ac:spMk id="8" creationId="{00000000-0000-0000-0000-000000000000}"/>
          </ac:spMkLst>
        </pc:spChg>
        <pc:spChg chg="del mod">
          <ac:chgData name="Bhandari, Miraj" userId="0d44bc06-2b8f-40ab-92c6-f4fd8615fd13" providerId="ADAL" clId="{EF3D1119-16C9-4ABB-BA8B-B310D4070A74}" dt="2026-07-16T14:58:24.594" v="2" actId="478"/>
          <ac:spMkLst>
            <pc:docMk/>
            <pc:sldMk cId="0" sldId="268"/>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1726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5333981" cy="5143500"/>
          </a:xfrm>
          <a:prstGeom prst="rect">
            <a:avLst/>
          </a:prstGeom>
          <a:solidFill>
            <a:srgbClr val="000000">
              <a:alpha val="0"/>
            </a:srgbClr>
          </a:solidFill>
          <a:ln/>
        </p:spPr>
        <p:txBody>
          <a:bodyPr/>
          <a:lstStyle/>
          <a:p>
            <a:endParaRPr lang="en-US"/>
          </a:p>
        </p:txBody>
      </p:sp>
      <p:sp>
        <p:nvSpPr>
          <p:cNvPr id="4" name="Shape 1"/>
          <p:cNvSpPr/>
          <p:nvPr/>
        </p:nvSpPr>
        <p:spPr>
          <a:xfrm>
            <a:off x="5326838" y="0"/>
            <a:ext cx="7144" cy="5143500"/>
          </a:xfrm>
          <a:prstGeom prst="rect">
            <a:avLst/>
          </a:prstGeom>
          <a:solidFill>
            <a:srgbClr val="4E148C"/>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0" y="0"/>
            <a:ext cx="5333981" cy="5143500"/>
          </a:xfrm>
          <a:prstGeom prst="rect">
            <a:avLst/>
          </a:prstGeom>
        </p:spPr>
      </p:pic>
      <p:sp>
        <p:nvSpPr>
          <p:cNvPr id="6" name="Text 2"/>
          <p:cNvSpPr/>
          <p:nvPr/>
        </p:nvSpPr>
        <p:spPr>
          <a:xfrm>
            <a:off x="5619731" y="1557338"/>
            <a:ext cx="3238463" cy="1131503"/>
          </a:xfrm>
          <a:prstGeom prst="rect">
            <a:avLst/>
          </a:prstGeom>
          <a:noFill/>
          <a:ln/>
        </p:spPr>
        <p:txBody>
          <a:bodyPr wrap="square" lIns="0" tIns="0" rIns="0" bIns="0" rtlCol="0" anchor="t">
            <a:spAutoFit/>
          </a:bodyPr>
          <a:lstStyle/>
          <a:p>
            <a:pPr marL="0" indent="0" algn="l">
              <a:lnSpc>
                <a:spcPct val="88000"/>
              </a:lnSpc>
              <a:buNone/>
            </a:pPr>
            <a:r>
              <a:rPr lang="en-US" sz="3750" b="1" kern="0" spc="-2" dirty="0">
                <a:solidFill>
                  <a:srgbClr val="F4F6F8"/>
                </a:solidFill>
                <a:latin typeface="Inter Black" pitchFamily="34" charset="0"/>
                <a:ea typeface="Inter Black" pitchFamily="34" charset="-122"/>
                <a:cs typeface="Inter Black" pitchFamily="34" charset="-120"/>
              </a:rPr>
              <a:t>LLM
FOUNDATIONS</a:t>
            </a:r>
            <a:endParaRPr lang="en-US" sz="3750" dirty="0"/>
          </a:p>
        </p:txBody>
      </p:sp>
      <p:sp>
        <p:nvSpPr>
          <p:cNvPr id="7" name="Text 3"/>
          <p:cNvSpPr/>
          <p:nvPr/>
        </p:nvSpPr>
        <p:spPr>
          <a:xfrm>
            <a:off x="5619731" y="2831716"/>
            <a:ext cx="3238463" cy="719956"/>
          </a:xfrm>
          <a:prstGeom prst="rect">
            <a:avLst/>
          </a:prstGeom>
          <a:noFill/>
          <a:ln/>
        </p:spPr>
        <p:txBody>
          <a:bodyPr wrap="square" lIns="0" tIns="0" rIns="0" bIns="0" rtlCol="0" anchor="t">
            <a:spAutoFit/>
          </a:bodyPr>
          <a:lstStyle/>
          <a:p>
            <a:pPr marL="0" indent="0" algn="l">
              <a:lnSpc>
                <a:spcPct val="112000"/>
              </a:lnSpc>
              <a:buNone/>
            </a:pPr>
            <a:r>
              <a:rPr lang="en-US" sz="1250" dirty="0">
                <a:solidFill>
                  <a:srgbClr val="00A86B"/>
                </a:solidFill>
                <a:latin typeface="Inter" pitchFamily="34" charset="0"/>
                <a:ea typeface="Inter" pitchFamily="34" charset="-122"/>
                <a:cs typeface="Inter" pitchFamily="34" charset="-120"/>
              </a:rPr>
              <a:t>Unpacking the Intelligence Behind AI: GPT, BERT, T5, LLaMA, and the Transformer Revolution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000125"/>
          </a:xfrm>
          <a:prstGeom prst="rect">
            <a:avLst/>
          </a:prstGeom>
          <a:solidFill>
            <a:srgbClr val="000000">
              <a:alpha val="0"/>
            </a:srgbClr>
          </a:solidFill>
          <a:ln/>
        </p:spPr>
        <p:txBody>
          <a:bodyPr/>
          <a:lstStyle/>
          <a:p>
            <a:endParaRPr lang="en-US"/>
          </a:p>
        </p:txBody>
      </p:sp>
      <p:sp>
        <p:nvSpPr>
          <p:cNvPr id="4" name="Shape 1"/>
          <p:cNvSpPr/>
          <p:nvPr/>
        </p:nvSpPr>
        <p:spPr>
          <a:xfrm>
            <a:off x="0" y="992981"/>
            <a:ext cx="9144000" cy="7144"/>
          </a:xfrm>
          <a:prstGeom prst="rect">
            <a:avLst/>
          </a:prstGeom>
          <a:solidFill>
            <a:srgbClr val="4E148C"/>
          </a:solidFill>
          <a:ln/>
        </p:spPr>
        <p:txBody>
          <a:bodyPr/>
          <a:lstStyle/>
          <a:p>
            <a:endParaRPr lang="en-US"/>
          </a:p>
        </p:txBody>
      </p:sp>
      <p:sp>
        <p:nvSpPr>
          <p:cNvPr id="5" name="Text 2"/>
          <p:cNvSpPr/>
          <p:nvPr/>
        </p:nvSpPr>
        <p:spPr>
          <a:xfrm>
            <a:off x="428625" y="428625"/>
            <a:ext cx="8715375" cy="460772"/>
          </a:xfrm>
          <a:prstGeom prst="rect">
            <a:avLst/>
          </a:prstGeom>
          <a:noFill/>
          <a:ln/>
        </p:spPr>
        <p:txBody>
          <a:bodyPr wrap="square" lIns="0" tIns="0" rIns="0" bIns="0" rtlCol="0" anchor="t">
            <a:spAutoFit/>
          </a:bodyPr>
          <a:lstStyle/>
          <a:p>
            <a:pPr marL="0" indent="0" algn="l">
              <a:buNone/>
            </a:pPr>
            <a:r>
              <a:rPr lang="en-US" sz="2850" b="1" kern="0" spc="-1" dirty="0">
                <a:solidFill>
                  <a:srgbClr val="00A86B"/>
                </a:solidFill>
                <a:latin typeface="Inter Black" pitchFamily="34" charset="0"/>
                <a:ea typeface="Inter Black" pitchFamily="34" charset="-122"/>
                <a:cs typeface="Inter Black" pitchFamily="34" charset="-120"/>
              </a:rPr>
              <a:t>WHAT ARE LLMS?</a:t>
            </a:r>
            <a:endParaRPr lang="en-US" sz="2850" dirty="0"/>
          </a:p>
        </p:txBody>
      </p:sp>
      <p:sp>
        <p:nvSpPr>
          <p:cNvPr id="6" name="Text 3"/>
          <p:cNvSpPr/>
          <p:nvPr/>
        </p:nvSpPr>
        <p:spPr>
          <a:xfrm>
            <a:off x="428625" y="1428750"/>
            <a:ext cx="3857625" cy="1920162"/>
          </a:xfrm>
          <a:prstGeom prst="rect">
            <a:avLst/>
          </a:prstGeom>
          <a:noFill/>
          <a:ln/>
        </p:spPr>
        <p:txBody>
          <a:bodyPr wrap="square" lIns="0" tIns="0" rIns="0" bIns="0" rtlCol="0" anchor="t">
            <a:spAutoFit/>
          </a:bodyPr>
          <a:lstStyle/>
          <a:p>
            <a:pPr marL="0" indent="0" algn="l">
              <a:lnSpc>
                <a:spcPct val="128000"/>
              </a:lnSpc>
              <a:buNone/>
            </a:pPr>
            <a:r>
              <a:rPr lang="en-US" sz="1250" dirty="0">
                <a:solidFill>
                  <a:srgbClr val="F4F6F8"/>
                </a:solidFill>
                <a:latin typeface="Courier New" pitchFamily="34" charset="0"/>
                <a:ea typeface="Courier New" pitchFamily="34" charset="-122"/>
                <a:cs typeface="Courier New" pitchFamily="34" charset="-120"/>
              </a:rPr>
              <a:t>Large Language Models (LLMs) are advanced AI systems trained on vast datasets to understand, generate, and interact with human language. They serve as the foundation for modern conversational AI and intelligent automation.</a:t>
            </a:r>
            <a:endParaRPr lang="en-US" sz="1250" dirty="0"/>
          </a:p>
        </p:txBody>
      </p:sp>
      <p:sp>
        <p:nvSpPr>
          <p:cNvPr id="7" name="Shape 4"/>
          <p:cNvSpPr/>
          <p:nvPr/>
        </p:nvSpPr>
        <p:spPr>
          <a:xfrm>
            <a:off x="428625" y="3634662"/>
            <a:ext cx="2369381" cy="292894"/>
          </a:xfrm>
          <a:prstGeom prst="rect">
            <a:avLst/>
          </a:prstGeom>
          <a:solidFill>
            <a:srgbClr val="4E148C"/>
          </a:solidFill>
          <a:ln/>
        </p:spPr>
        <p:txBody>
          <a:bodyPr/>
          <a:lstStyle/>
          <a:p>
            <a:endParaRPr lang="en-US"/>
          </a:p>
        </p:txBody>
      </p:sp>
      <p:sp>
        <p:nvSpPr>
          <p:cNvPr id="8" name="Text 5"/>
          <p:cNvSpPr/>
          <p:nvPr/>
        </p:nvSpPr>
        <p:spPr>
          <a:xfrm>
            <a:off x="571500" y="3777537"/>
            <a:ext cx="2083631" cy="150019"/>
          </a:xfrm>
          <a:prstGeom prst="rect">
            <a:avLst/>
          </a:prstGeom>
          <a:noFill/>
          <a:ln/>
        </p:spPr>
        <p:txBody>
          <a:bodyPr wrap="square" lIns="0" tIns="0" rIns="0" bIns="0" rtlCol="0" anchor="t">
            <a:spAutoFit/>
          </a:bodyPr>
          <a:lstStyle/>
          <a:p>
            <a:pPr marL="0" indent="0" algn="l">
              <a:buNone/>
            </a:pPr>
            <a:r>
              <a:rPr lang="en-US" sz="900" b="1" dirty="0">
                <a:solidFill>
                  <a:srgbClr val="F4F6F8"/>
                </a:solidFill>
                <a:latin typeface="Inter Bold" pitchFamily="34" charset="0"/>
                <a:ea typeface="Inter Bold" pitchFamily="34" charset="-122"/>
                <a:cs typeface="Inter Bold" pitchFamily="34" charset="-120"/>
              </a:rPr>
              <a:t>FOUNDATION OF GENERATIVE AI</a:t>
            </a:r>
            <a:endParaRPr lang="en-US" sz="900" dirty="0"/>
          </a:p>
        </p:txBody>
      </p:sp>
      <p:pic>
        <p:nvPicPr>
          <p:cNvPr id="9" name="Image 1" descr="preencoded.png"/>
          <p:cNvPicPr>
            <a:picLocks noChangeAspect="1"/>
          </p:cNvPicPr>
          <p:nvPr/>
        </p:nvPicPr>
        <p:blipFill>
          <a:blip r:embed="rId4"/>
          <a:stretch>
            <a:fillRect/>
          </a:stretch>
        </p:blipFill>
        <p:spPr>
          <a:xfrm>
            <a:off x="4786313" y="1643063"/>
            <a:ext cx="4143375" cy="285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110853"/>
          </a:xfrm>
          <a:prstGeom prst="rect">
            <a:avLst/>
          </a:prstGeom>
          <a:solidFill>
            <a:srgbClr val="000000">
              <a:alpha val="0"/>
            </a:srgbClr>
          </a:solidFill>
          <a:ln/>
        </p:spPr>
        <p:txBody>
          <a:bodyPr/>
          <a:lstStyle/>
          <a:p>
            <a:endParaRPr lang="en-US"/>
          </a:p>
        </p:txBody>
      </p:sp>
      <p:sp>
        <p:nvSpPr>
          <p:cNvPr id="4" name="Shape 1"/>
          <p:cNvSpPr/>
          <p:nvPr/>
        </p:nvSpPr>
        <p:spPr>
          <a:xfrm>
            <a:off x="0" y="1103709"/>
            <a:ext cx="9144000" cy="7144"/>
          </a:xfrm>
          <a:prstGeom prst="rect">
            <a:avLst/>
          </a:prstGeom>
          <a:solidFill>
            <a:srgbClr val="4E148C"/>
          </a:solidFill>
          <a:ln/>
        </p:spPr>
        <p:txBody>
          <a:bodyPr/>
          <a:lstStyle/>
          <a:p>
            <a:endParaRPr lang="en-US"/>
          </a:p>
        </p:txBody>
      </p:sp>
      <p:sp>
        <p:nvSpPr>
          <p:cNvPr id="5" name="Text 2"/>
          <p:cNvSpPr/>
          <p:nvPr/>
        </p:nvSpPr>
        <p:spPr>
          <a:xfrm>
            <a:off x="428625" y="428625"/>
            <a:ext cx="8715375" cy="460772"/>
          </a:xfrm>
          <a:prstGeom prst="rect">
            <a:avLst/>
          </a:prstGeom>
          <a:noFill/>
          <a:ln/>
        </p:spPr>
        <p:txBody>
          <a:bodyPr wrap="square" lIns="0" tIns="0" rIns="0" bIns="0" rtlCol="0" anchor="t">
            <a:spAutoFit/>
          </a:bodyPr>
          <a:lstStyle/>
          <a:p>
            <a:pPr marL="0" indent="0" algn="l">
              <a:buNone/>
            </a:pPr>
            <a:r>
              <a:rPr lang="en-US" sz="2850" b="1" kern="0" spc="-1" dirty="0">
                <a:solidFill>
                  <a:srgbClr val="00A86B"/>
                </a:solidFill>
                <a:latin typeface="Inter Black" pitchFamily="34" charset="0"/>
                <a:ea typeface="Inter Black" pitchFamily="34" charset="-122"/>
                <a:cs typeface="Inter Black" pitchFamily="34" charset="-120"/>
              </a:rPr>
              <a:t>KEY ARCHITECTURES</a:t>
            </a:r>
            <a:endParaRPr lang="en-US" sz="2850" dirty="0"/>
          </a:p>
        </p:txBody>
      </p:sp>
      <p:sp>
        <p:nvSpPr>
          <p:cNvPr id="6" name="Shape 3"/>
          <p:cNvSpPr/>
          <p:nvPr/>
        </p:nvSpPr>
        <p:spPr>
          <a:xfrm>
            <a:off x="432197" y="1543050"/>
            <a:ext cx="1059898" cy="260747"/>
          </a:xfrm>
          <a:prstGeom prst="rect">
            <a:avLst/>
          </a:prstGeom>
          <a:solidFill>
            <a:srgbClr val="4E148C"/>
          </a:solidFill>
          <a:ln w="9144">
            <a:solidFill>
              <a:srgbClr val="4E148C"/>
            </a:solidFill>
            <a:prstDash val="solid"/>
          </a:ln>
        </p:spPr>
        <p:txBody>
          <a:bodyPr/>
          <a:lstStyle/>
          <a:p>
            <a:endParaRPr lang="en-US"/>
          </a:p>
        </p:txBody>
      </p:sp>
      <p:sp>
        <p:nvSpPr>
          <p:cNvPr id="7" name="Text 4"/>
          <p:cNvSpPr/>
          <p:nvPr/>
        </p:nvSpPr>
        <p:spPr>
          <a:xfrm>
            <a:off x="432197" y="1543050"/>
            <a:ext cx="1059898" cy="260747"/>
          </a:xfrm>
          <a:prstGeom prst="rect">
            <a:avLst/>
          </a:prstGeom>
          <a:noFill/>
          <a:ln/>
        </p:spPr>
        <p:txBody>
          <a:bodyPr wrap="none" lIns="127508" tIns="127508" rIns="127508" bIns="0" rtlCol="0" anchor="ctr">
            <a:spAutoFit/>
          </a:bodyPr>
          <a:lstStyle/>
          <a:p>
            <a:pPr marL="0" indent="0" algn="l">
              <a:buNone/>
            </a:pPr>
            <a:r>
              <a:rPr lang="en-US" sz="900" b="1" dirty="0">
                <a:solidFill>
                  <a:srgbClr val="F4F6F8"/>
                </a:solidFill>
                <a:latin typeface="Courier New" pitchFamily="34" charset="0"/>
                <a:ea typeface="Courier New" pitchFamily="34" charset="-122"/>
                <a:cs typeface="Courier New" pitchFamily="34" charset="-120"/>
              </a:rPr>
              <a:t>MODEL</a:t>
            </a:r>
            <a:endParaRPr lang="en-US" sz="900" dirty="0"/>
          </a:p>
        </p:txBody>
      </p:sp>
      <p:sp>
        <p:nvSpPr>
          <p:cNvPr id="8" name="Shape 5"/>
          <p:cNvSpPr/>
          <p:nvPr/>
        </p:nvSpPr>
        <p:spPr>
          <a:xfrm>
            <a:off x="1492095" y="1543050"/>
            <a:ext cx="1598526" cy="260747"/>
          </a:xfrm>
          <a:prstGeom prst="rect">
            <a:avLst/>
          </a:prstGeom>
          <a:solidFill>
            <a:srgbClr val="4E148C"/>
          </a:solidFill>
          <a:ln w="9144">
            <a:solidFill>
              <a:srgbClr val="4E148C"/>
            </a:solidFill>
            <a:prstDash val="solid"/>
          </a:ln>
        </p:spPr>
        <p:txBody>
          <a:bodyPr/>
          <a:lstStyle/>
          <a:p>
            <a:endParaRPr lang="en-US"/>
          </a:p>
        </p:txBody>
      </p:sp>
      <p:sp>
        <p:nvSpPr>
          <p:cNvPr id="9" name="Text 6"/>
          <p:cNvSpPr/>
          <p:nvPr/>
        </p:nvSpPr>
        <p:spPr>
          <a:xfrm>
            <a:off x="1492095" y="1543050"/>
            <a:ext cx="1598526" cy="260747"/>
          </a:xfrm>
          <a:prstGeom prst="rect">
            <a:avLst/>
          </a:prstGeom>
          <a:noFill/>
          <a:ln/>
        </p:spPr>
        <p:txBody>
          <a:bodyPr wrap="square" lIns="127508" tIns="127508" rIns="127508" bIns="0" rtlCol="0" anchor="ctr">
            <a:spAutoFit/>
          </a:bodyPr>
          <a:lstStyle/>
          <a:p>
            <a:pPr marL="0" indent="0" algn="l">
              <a:buNone/>
            </a:pPr>
            <a:r>
              <a:rPr lang="en-US" sz="900" b="1" dirty="0">
                <a:solidFill>
                  <a:srgbClr val="F4F6F8"/>
                </a:solidFill>
                <a:latin typeface="Courier New" pitchFamily="34" charset="0"/>
                <a:ea typeface="Courier New" pitchFamily="34" charset="-122"/>
                <a:cs typeface="Courier New" pitchFamily="34" charset="-120"/>
              </a:rPr>
              <a:t>DEVELOPER</a:t>
            </a:r>
            <a:endParaRPr lang="en-US" sz="900" dirty="0"/>
          </a:p>
        </p:txBody>
      </p:sp>
      <p:sp>
        <p:nvSpPr>
          <p:cNvPr id="10" name="Shape 7"/>
          <p:cNvSpPr/>
          <p:nvPr/>
        </p:nvSpPr>
        <p:spPr>
          <a:xfrm>
            <a:off x="3086323" y="1543050"/>
            <a:ext cx="2408337" cy="260747"/>
          </a:xfrm>
          <a:prstGeom prst="rect">
            <a:avLst/>
          </a:prstGeom>
          <a:solidFill>
            <a:srgbClr val="4E148C"/>
          </a:solidFill>
          <a:ln w="9144">
            <a:solidFill>
              <a:srgbClr val="4E148C"/>
            </a:solidFill>
            <a:prstDash val="solid"/>
          </a:ln>
        </p:spPr>
        <p:txBody>
          <a:bodyPr/>
          <a:lstStyle/>
          <a:p>
            <a:endParaRPr lang="en-US"/>
          </a:p>
        </p:txBody>
      </p:sp>
      <p:sp>
        <p:nvSpPr>
          <p:cNvPr id="11" name="Text 8"/>
          <p:cNvSpPr/>
          <p:nvPr/>
        </p:nvSpPr>
        <p:spPr>
          <a:xfrm>
            <a:off x="3086323" y="1543050"/>
            <a:ext cx="2408337" cy="260747"/>
          </a:xfrm>
          <a:prstGeom prst="rect">
            <a:avLst/>
          </a:prstGeom>
          <a:noFill/>
          <a:ln/>
        </p:spPr>
        <p:txBody>
          <a:bodyPr wrap="square" lIns="127508" tIns="127508" rIns="127508" bIns="0" rtlCol="0" anchor="ctr">
            <a:spAutoFit/>
          </a:bodyPr>
          <a:lstStyle/>
          <a:p>
            <a:pPr marL="0" indent="0" algn="l">
              <a:buNone/>
            </a:pPr>
            <a:r>
              <a:rPr lang="en-US" sz="900" b="1" dirty="0">
                <a:solidFill>
                  <a:srgbClr val="F4F6F8"/>
                </a:solidFill>
                <a:latin typeface="Courier New" pitchFamily="34" charset="0"/>
                <a:ea typeface="Courier New" pitchFamily="34" charset="-122"/>
                <a:cs typeface="Courier New" pitchFamily="34" charset="-120"/>
              </a:rPr>
              <a:t>TYPE</a:t>
            </a:r>
            <a:endParaRPr lang="en-US" sz="900" dirty="0"/>
          </a:p>
        </p:txBody>
      </p:sp>
      <p:sp>
        <p:nvSpPr>
          <p:cNvPr id="12" name="Shape 9"/>
          <p:cNvSpPr/>
          <p:nvPr/>
        </p:nvSpPr>
        <p:spPr>
          <a:xfrm>
            <a:off x="5492260" y="1543050"/>
            <a:ext cx="3219543" cy="260747"/>
          </a:xfrm>
          <a:prstGeom prst="rect">
            <a:avLst/>
          </a:prstGeom>
          <a:solidFill>
            <a:srgbClr val="4E148C"/>
          </a:solidFill>
          <a:ln w="9144">
            <a:solidFill>
              <a:srgbClr val="4E148C"/>
            </a:solidFill>
            <a:prstDash val="solid"/>
          </a:ln>
        </p:spPr>
        <p:txBody>
          <a:bodyPr/>
          <a:lstStyle/>
          <a:p>
            <a:endParaRPr lang="en-US"/>
          </a:p>
        </p:txBody>
      </p:sp>
      <p:sp>
        <p:nvSpPr>
          <p:cNvPr id="13" name="Text 10"/>
          <p:cNvSpPr/>
          <p:nvPr/>
        </p:nvSpPr>
        <p:spPr>
          <a:xfrm>
            <a:off x="5492260" y="1543050"/>
            <a:ext cx="3219543" cy="260747"/>
          </a:xfrm>
          <a:prstGeom prst="rect">
            <a:avLst/>
          </a:prstGeom>
          <a:noFill/>
          <a:ln/>
        </p:spPr>
        <p:txBody>
          <a:bodyPr wrap="square" lIns="127508" tIns="127508" rIns="127508" bIns="0" rtlCol="0" anchor="ctr">
            <a:spAutoFit/>
          </a:bodyPr>
          <a:lstStyle/>
          <a:p>
            <a:pPr marL="0" indent="0" algn="l">
              <a:buNone/>
            </a:pPr>
            <a:r>
              <a:rPr lang="en-US" sz="900" b="1" dirty="0">
                <a:solidFill>
                  <a:srgbClr val="F4F6F8"/>
                </a:solidFill>
                <a:latin typeface="Courier New" pitchFamily="34" charset="0"/>
                <a:ea typeface="Courier New" pitchFamily="34" charset="-122"/>
                <a:cs typeface="Courier New" pitchFamily="34" charset="-120"/>
              </a:rPr>
              <a:t>PRIMARY FOCUS</a:t>
            </a:r>
            <a:endParaRPr lang="en-US" sz="900" dirty="0"/>
          </a:p>
        </p:txBody>
      </p:sp>
      <p:sp>
        <p:nvSpPr>
          <p:cNvPr id="14" name="Text 11"/>
          <p:cNvSpPr/>
          <p:nvPr/>
        </p:nvSpPr>
        <p:spPr>
          <a:xfrm>
            <a:off x="432197" y="1798997"/>
            <a:ext cx="1061461" cy="260747"/>
          </a:xfrm>
          <a:prstGeom prst="rect">
            <a:avLst/>
          </a:prstGeom>
          <a:noFill/>
          <a:ln/>
        </p:spPr>
        <p:txBody>
          <a:bodyPr wrap="non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BERT</a:t>
            </a:r>
            <a:endParaRPr lang="en-US" sz="950" dirty="0"/>
          </a:p>
        </p:txBody>
      </p:sp>
      <p:sp>
        <p:nvSpPr>
          <p:cNvPr id="15" name="Text 12"/>
          <p:cNvSpPr/>
          <p:nvPr/>
        </p:nvSpPr>
        <p:spPr>
          <a:xfrm>
            <a:off x="1493658" y="1798997"/>
            <a:ext cx="1588424" cy="260747"/>
          </a:xfrm>
          <a:prstGeom prst="rect">
            <a:avLst/>
          </a:prstGeom>
          <a:noFill/>
          <a:ln/>
        </p:spPr>
        <p:txBody>
          <a:bodyPr wrap="squar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Google</a:t>
            </a:r>
            <a:endParaRPr lang="en-US" sz="950" dirty="0"/>
          </a:p>
        </p:txBody>
      </p:sp>
      <p:sp>
        <p:nvSpPr>
          <p:cNvPr id="16" name="Text 13"/>
          <p:cNvSpPr/>
          <p:nvPr/>
        </p:nvSpPr>
        <p:spPr>
          <a:xfrm>
            <a:off x="3082082" y="1798997"/>
            <a:ext cx="2410178" cy="260747"/>
          </a:xfrm>
          <a:prstGeom prst="rect">
            <a:avLst/>
          </a:prstGeom>
          <a:noFill/>
          <a:ln/>
        </p:spPr>
        <p:txBody>
          <a:bodyPr wrap="squar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Encoder-Only</a:t>
            </a:r>
            <a:endParaRPr lang="en-US" sz="950" dirty="0"/>
          </a:p>
        </p:txBody>
      </p:sp>
      <p:sp>
        <p:nvSpPr>
          <p:cNvPr id="17" name="Text 14"/>
          <p:cNvSpPr/>
          <p:nvPr/>
        </p:nvSpPr>
        <p:spPr>
          <a:xfrm>
            <a:off x="5492260" y="1798997"/>
            <a:ext cx="3219543" cy="260747"/>
          </a:xfrm>
          <a:prstGeom prst="rect">
            <a:avLst/>
          </a:prstGeom>
          <a:noFill/>
          <a:ln/>
        </p:spPr>
        <p:txBody>
          <a:bodyPr wrap="squar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Understanding Context</a:t>
            </a:r>
            <a:endParaRPr lang="en-US" sz="950" dirty="0"/>
          </a:p>
        </p:txBody>
      </p:sp>
      <p:sp>
        <p:nvSpPr>
          <p:cNvPr id="18" name="Text 15"/>
          <p:cNvSpPr/>
          <p:nvPr/>
        </p:nvSpPr>
        <p:spPr>
          <a:xfrm>
            <a:off x="432197" y="2059744"/>
            <a:ext cx="1061461" cy="260747"/>
          </a:xfrm>
          <a:prstGeom prst="rect">
            <a:avLst/>
          </a:prstGeom>
          <a:noFill/>
          <a:ln/>
        </p:spPr>
        <p:txBody>
          <a:bodyPr wrap="non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GPT</a:t>
            </a:r>
            <a:endParaRPr lang="en-US" sz="950" dirty="0"/>
          </a:p>
        </p:txBody>
      </p:sp>
      <p:sp>
        <p:nvSpPr>
          <p:cNvPr id="19" name="Text 16"/>
          <p:cNvSpPr/>
          <p:nvPr/>
        </p:nvSpPr>
        <p:spPr>
          <a:xfrm>
            <a:off x="1493658" y="2059744"/>
            <a:ext cx="1588424" cy="260747"/>
          </a:xfrm>
          <a:prstGeom prst="rect">
            <a:avLst/>
          </a:prstGeom>
          <a:noFill/>
          <a:ln/>
        </p:spPr>
        <p:txBody>
          <a:bodyPr wrap="squar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OpenAI</a:t>
            </a:r>
            <a:endParaRPr lang="en-US" sz="950" dirty="0"/>
          </a:p>
        </p:txBody>
      </p:sp>
      <p:sp>
        <p:nvSpPr>
          <p:cNvPr id="20" name="Text 17"/>
          <p:cNvSpPr/>
          <p:nvPr/>
        </p:nvSpPr>
        <p:spPr>
          <a:xfrm>
            <a:off x="3082082" y="2059744"/>
            <a:ext cx="2410178" cy="260747"/>
          </a:xfrm>
          <a:prstGeom prst="rect">
            <a:avLst/>
          </a:prstGeom>
          <a:noFill/>
          <a:ln/>
        </p:spPr>
        <p:txBody>
          <a:bodyPr wrap="squar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Decoder-Only</a:t>
            </a:r>
            <a:endParaRPr lang="en-US" sz="950" dirty="0"/>
          </a:p>
        </p:txBody>
      </p:sp>
      <p:sp>
        <p:nvSpPr>
          <p:cNvPr id="21" name="Text 18"/>
          <p:cNvSpPr/>
          <p:nvPr/>
        </p:nvSpPr>
        <p:spPr>
          <a:xfrm>
            <a:off x="5492260" y="2059744"/>
            <a:ext cx="3219543" cy="260747"/>
          </a:xfrm>
          <a:prstGeom prst="rect">
            <a:avLst/>
          </a:prstGeom>
          <a:noFill/>
          <a:ln/>
        </p:spPr>
        <p:txBody>
          <a:bodyPr wrap="squar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Text Generation</a:t>
            </a:r>
            <a:endParaRPr lang="en-US" sz="950" dirty="0"/>
          </a:p>
        </p:txBody>
      </p:sp>
      <p:sp>
        <p:nvSpPr>
          <p:cNvPr id="22" name="Text 19"/>
          <p:cNvSpPr/>
          <p:nvPr/>
        </p:nvSpPr>
        <p:spPr>
          <a:xfrm>
            <a:off x="432197" y="2320491"/>
            <a:ext cx="1061461" cy="260747"/>
          </a:xfrm>
          <a:prstGeom prst="rect">
            <a:avLst/>
          </a:prstGeom>
          <a:noFill/>
          <a:ln/>
        </p:spPr>
        <p:txBody>
          <a:bodyPr wrap="non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T5</a:t>
            </a:r>
            <a:endParaRPr lang="en-US" sz="950" dirty="0"/>
          </a:p>
        </p:txBody>
      </p:sp>
      <p:sp>
        <p:nvSpPr>
          <p:cNvPr id="23" name="Text 20"/>
          <p:cNvSpPr/>
          <p:nvPr/>
        </p:nvSpPr>
        <p:spPr>
          <a:xfrm>
            <a:off x="1493658" y="2320491"/>
            <a:ext cx="1588424" cy="260747"/>
          </a:xfrm>
          <a:prstGeom prst="rect">
            <a:avLst/>
          </a:prstGeom>
          <a:noFill/>
          <a:ln/>
        </p:spPr>
        <p:txBody>
          <a:bodyPr wrap="squar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Google</a:t>
            </a:r>
            <a:endParaRPr lang="en-US" sz="950" dirty="0"/>
          </a:p>
        </p:txBody>
      </p:sp>
      <p:sp>
        <p:nvSpPr>
          <p:cNvPr id="24" name="Text 21"/>
          <p:cNvSpPr/>
          <p:nvPr/>
        </p:nvSpPr>
        <p:spPr>
          <a:xfrm>
            <a:off x="3082082" y="2320491"/>
            <a:ext cx="2410178" cy="260747"/>
          </a:xfrm>
          <a:prstGeom prst="rect">
            <a:avLst/>
          </a:prstGeom>
          <a:noFill/>
          <a:ln/>
        </p:spPr>
        <p:txBody>
          <a:bodyPr wrap="squar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Encoder-Decoder</a:t>
            </a:r>
            <a:endParaRPr lang="en-US" sz="950" dirty="0"/>
          </a:p>
        </p:txBody>
      </p:sp>
      <p:sp>
        <p:nvSpPr>
          <p:cNvPr id="25" name="Text 22"/>
          <p:cNvSpPr/>
          <p:nvPr/>
        </p:nvSpPr>
        <p:spPr>
          <a:xfrm>
            <a:off x="5492260" y="2320491"/>
            <a:ext cx="3219543" cy="260747"/>
          </a:xfrm>
          <a:prstGeom prst="rect">
            <a:avLst/>
          </a:prstGeom>
          <a:noFill/>
          <a:ln/>
        </p:spPr>
        <p:txBody>
          <a:bodyPr wrap="squar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Task Transformation</a:t>
            </a:r>
            <a:endParaRPr lang="en-US" sz="950" dirty="0"/>
          </a:p>
        </p:txBody>
      </p:sp>
      <p:sp>
        <p:nvSpPr>
          <p:cNvPr id="26" name="Text 23"/>
          <p:cNvSpPr/>
          <p:nvPr/>
        </p:nvSpPr>
        <p:spPr>
          <a:xfrm>
            <a:off x="432197" y="2581238"/>
            <a:ext cx="1061461" cy="260747"/>
          </a:xfrm>
          <a:prstGeom prst="rect">
            <a:avLst/>
          </a:prstGeom>
          <a:noFill/>
          <a:ln/>
        </p:spPr>
        <p:txBody>
          <a:bodyPr wrap="non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LLaMA</a:t>
            </a:r>
            <a:endParaRPr lang="en-US" sz="950" dirty="0"/>
          </a:p>
        </p:txBody>
      </p:sp>
      <p:sp>
        <p:nvSpPr>
          <p:cNvPr id="27" name="Text 24"/>
          <p:cNvSpPr/>
          <p:nvPr/>
        </p:nvSpPr>
        <p:spPr>
          <a:xfrm>
            <a:off x="1493658" y="2581238"/>
            <a:ext cx="1588424" cy="260747"/>
          </a:xfrm>
          <a:prstGeom prst="rect">
            <a:avLst/>
          </a:prstGeom>
          <a:noFill/>
          <a:ln/>
        </p:spPr>
        <p:txBody>
          <a:bodyPr wrap="squar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Meta</a:t>
            </a:r>
            <a:endParaRPr lang="en-US" sz="950" dirty="0"/>
          </a:p>
        </p:txBody>
      </p:sp>
      <p:sp>
        <p:nvSpPr>
          <p:cNvPr id="28" name="Text 25"/>
          <p:cNvSpPr/>
          <p:nvPr/>
        </p:nvSpPr>
        <p:spPr>
          <a:xfrm>
            <a:off x="3082082" y="2581238"/>
            <a:ext cx="2410178" cy="260747"/>
          </a:xfrm>
          <a:prstGeom prst="rect">
            <a:avLst/>
          </a:prstGeom>
          <a:noFill/>
          <a:ln/>
        </p:spPr>
        <p:txBody>
          <a:bodyPr wrap="squar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Decoder-Only</a:t>
            </a:r>
            <a:endParaRPr lang="en-US" sz="950" dirty="0"/>
          </a:p>
        </p:txBody>
      </p:sp>
      <p:sp>
        <p:nvSpPr>
          <p:cNvPr id="29" name="Text 26"/>
          <p:cNvSpPr/>
          <p:nvPr/>
        </p:nvSpPr>
        <p:spPr>
          <a:xfrm>
            <a:off x="5492260" y="2581238"/>
            <a:ext cx="3219543" cy="260747"/>
          </a:xfrm>
          <a:prstGeom prst="rect">
            <a:avLst/>
          </a:prstGeom>
          <a:noFill/>
          <a:ln/>
        </p:spPr>
        <p:txBody>
          <a:bodyPr wrap="square" lIns="127508" tIns="127508" rIns="127508" bIns="0" rtlCol="0" anchor="ctr">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Efficient Generation</a:t>
            </a:r>
            <a:endParaRPr lang="en-US" sz="950" dirty="0"/>
          </a:p>
        </p:txBody>
      </p:sp>
      <p:pic>
        <p:nvPicPr>
          <p:cNvPr id="30" name="Image 1" descr="preencoded.png"/>
          <p:cNvPicPr>
            <a:picLocks noChangeAspect="1"/>
          </p:cNvPicPr>
          <p:nvPr/>
        </p:nvPicPr>
        <p:blipFill>
          <a:blip r:embed="rId4"/>
          <a:stretch>
            <a:fillRect/>
          </a:stretch>
        </p:blipFill>
        <p:spPr>
          <a:xfrm>
            <a:off x="1000125" y="3244435"/>
            <a:ext cx="7143750" cy="17859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000125"/>
          </a:xfrm>
          <a:prstGeom prst="rect">
            <a:avLst/>
          </a:prstGeom>
          <a:solidFill>
            <a:srgbClr val="000000">
              <a:alpha val="0"/>
            </a:srgbClr>
          </a:solidFill>
          <a:ln/>
        </p:spPr>
        <p:txBody>
          <a:bodyPr/>
          <a:lstStyle/>
          <a:p>
            <a:endParaRPr lang="en-US"/>
          </a:p>
        </p:txBody>
      </p:sp>
      <p:sp>
        <p:nvSpPr>
          <p:cNvPr id="4" name="Shape 1"/>
          <p:cNvSpPr/>
          <p:nvPr/>
        </p:nvSpPr>
        <p:spPr>
          <a:xfrm>
            <a:off x="0" y="992981"/>
            <a:ext cx="9144000" cy="7144"/>
          </a:xfrm>
          <a:prstGeom prst="rect">
            <a:avLst/>
          </a:prstGeom>
          <a:solidFill>
            <a:srgbClr val="4E148C"/>
          </a:solidFill>
          <a:ln/>
        </p:spPr>
        <p:txBody>
          <a:bodyPr/>
          <a:lstStyle/>
          <a:p>
            <a:endParaRPr lang="en-US"/>
          </a:p>
        </p:txBody>
      </p:sp>
      <p:sp>
        <p:nvSpPr>
          <p:cNvPr id="5" name="Text 2"/>
          <p:cNvSpPr/>
          <p:nvPr/>
        </p:nvSpPr>
        <p:spPr>
          <a:xfrm>
            <a:off x="428625" y="428625"/>
            <a:ext cx="8715375" cy="460772"/>
          </a:xfrm>
          <a:prstGeom prst="rect">
            <a:avLst/>
          </a:prstGeom>
          <a:noFill/>
          <a:ln/>
        </p:spPr>
        <p:txBody>
          <a:bodyPr wrap="square" lIns="0" tIns="0" rIns="0" bIns="0" rtlCol="0" anchor="t">
            <a:spAutoFit/>
          </a:bodyPr>
          <a:lstStyle/>
          <a:p>
            <a:pPr marL="0" indent="0" algn="l">
              <a:buNone/>
            </a:pPr>
            <a:r>
              <a:rPr lang="en-US" sz="2850" b="1" kern="0" spc="-1" dirty="0">
                <a:solidFill>
                  <a:srgbClr val="00A86B"/>
                </a:solidFill>
                <a:latin typeface="Inter Black" pitchFamily="34" charset="0"/>
                <a:ea typeface="Inter Black" pitchFamily="34" charset="-122"/>
                <a:cs typeface="Inter Black" pitchFamily="34" charset="-120"/>
              </a:rPr>
              <a:t>THE TRANSFORMER REVOLUTION</a:t>
            </a:r>
            <a:endParaRPr lang="en-US" sz="2850" dirty="0"/>
          </a:p>
        </p:txBody>
      </p:sp>
      <p:sp>
        <p:nvSpPr>
          <p:cNvPr id="6" name="Shape 3"/>
          <p:cNvSpPr/>
          <p:nvPr/>
        </p:nvSpPr>
        <p:spPr>
          <a:xfrm>
            <a:off x="0" y="1000125"/>
            <a:ext cx="4572000" cy="4143375"/>
          </a:xfrm>
          <a:prstGeom prst="rect">
            <a:avLst/>
          </a:prstGeom>
          <a:solidFill>
            <a:srgbClr val="000000">
              <a:alpha val="0"/>
            </a:srgbClr>
          </a:solidFill>
          <a:ln/>
        </p:spPr>
        <p:txBody>
          <a:bodyPr/>
          <a:lstStyle/>
          <a:p>
            <a:endParaRPr lang="en-US"/>
          </a:p>
        </p:txBody>
      </p:sp>
      <p:sp>
        <p:nvSpPr>
          <p:cNvPr id="7" name="Shape 4"/>
          <p:cNvSpPr/>
          <p:nvPr/>
        </p:nvSpPr>
        <p:spPr>
          <a:xfrm>
            <a:off x="4564856" y="1000125"/>
            <a:ext cx="7144" cy="4143375"/>
          </a:xfrm>
          <a:prstGeom prst="rect">
            <a:avLst/>
          </a:prstGeom>
          <a:solidFill>
            <a:srgbClr val="4E148C"/>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357188" y="1357313"/>
            <a:ext cx="3857625" cy="3429000"/>
          </a:xfrm>
          <a:prstGeom prst="rect">
            <a:avLst/>
          </a:prstGeom>
        </p:spPr>
      </p:pic>
      <p:sp>
        <p:nvSpPr>
          <p:cNvPr id="9" name="Shape 5"/>
          <p:cNvSpPr/>
          <p:nvPr/>
        </p:nvSpPr>
        <p:spPr>
          <a:xfrm>
            <a:off x="5000625" y="1428750"/>
            <a:ext cx="1140321" cy="264319"/>
          </a:xfrm>
          <a:prstGeom prst="rect">
            <a:avLst/>
          </a:prstGeom>
          <a:solidFill>
            <a:srgbClr val="4E148C"/>
          </a:solidFill>
          <a:ln/>
        </p:spPr>
        <p:txBody>
          <a:bodyPr/>
          <a:lstStyle/>
          <a:p>
            <a:endParaRPr lang="en-US"/>
          </a:p>
        </p:txBody>
      </p:sp>
      <p:sp>
        <p:nvSpPr>
          <p:cNvPr id="10" name="Text 6"/>
          <p:cNvSpPr/>
          <p:nvPr/>
        </p:nvSpPr>
        <p:spPr>
          <a:xfrm>
            <a:off x="5000625" y="1428750"/>
            <a:ext cx="1140321" cy="264319"/>
          </a:xfrm>
          <a:prstGeom prst="rect">
            <a:avLst/>
          </a:prstGeom>
          <a:noFill/>
          <a:ln/>
        </p:spPr>
        <p:txBody>
          <a:bodyPr wrap="none" lIns="127508" tIns="85090" rIns="127508" bIns="0" rtlCol="0" anchor="t">
            <a:spAutoFit/>
          </a:bodyPr>
          <a:lstStyle/>
          <a:p>
            <a:pPr marL="0" indent="0" algn="l">
              <a:buNone/>
            </a:pPr>
            <a:r>
              <a:rPr lang="en-US" sz="1200" b="1" dirty="0">
                <a:solidFill>
                  <a:srgbClr val="F4F6F8"/>
                </a:solidFill>
                <a:latin typeface="Courier New" pitchFamily="34" charset="0"/>
                <a:ea typeface="Courier New" pitchFamily="34" charset="-122"/>
                <a:cs typeface="Courier New" pitchFamily="34" charset="-120"/>
              </a:rPr>
              <a:t>EST. 2017</a:t>
            </a:r>
            <a:endParaRPr lang="en-US" sz="850" dirty="0"/>
          </a:p>
        </p:txBody>
      </p:sp>
      <p:sp>
        <p:nvSpPr>
          <p:cNvPr id="11" name="Text 7"/>
          <p:cNvSpPr/>
          <p:nvPr/>
        </p:nvSpPr>
        <p:spPr>
          <a:xfrm>
            <a:off x="5000625" y="1907381"/>
            <a:ext cx="3714750" cy="1005706"/>
          </a:xfrm>
          <a:prstGeom prst="rect">
            <a:avLst/>
          </a:prstGeom>
          <a:noFill/>
          <a:ln/>
        </p:spPr>
        <p:txBody>
          <a:bodyPr wrap="square" lIns="0" tIns="0" rIns="0" bIns="0" rtlCol="0" anchor="t">
            <a:spAutoFit/>
          </a:bodyPr>
          <a:lstStyle/>
          <a:p>
            <a:pPr marL="0" indent="0" algn="l">
              <a:lnSpc>
                <a:spcPct val="128000"/>
              </a:lnSpc>
              <a:buNone/>
            </a:pPr>
            <a:r>
              <a:rPr lang="en-US" sz="1150" dirty="0">
                <a:solidFill>
                  <a:srgbClr val="F4F6F8"/>
                </a:solidFill>
                <a:latin typeface="Courier New" pitchFamily="34" charset="0"/>
                <a:ea typeface="Courier New" pitchFamily="34" charset="-122"/>
                <a:cs typeface="Courier New" pitchFamily="34" charset="-120"/>
              </a:rPr>
              <a:t>The Transformer architecture replaced recurrent layers with self-attention, enabling massive parallelization and efficiency.</a:t>
            </a:r>
            <a:endParaRPr lang="en-US" sz="1150" dirty="0"/>
          </a:p>
        </p:txBody>
      </p:sp>
      <p:sp>
        <p:nvSpPr>
          <p:cNvPr id="12" name="Text 8"/>
          <p:cNvSpPr/>
          <p:nvPr/>
        </p:nvSpPr>
        <p:spPr>
          <a:xfrm>
            <a:off x="5000625" y="3127400"/>
            <a:ext cx="3714750" cy="146447"/>
          </a:xfrm>
          <a:prstGeom prst="rect">
            <a:avLst/>
          </a:prstGeom>
          <a:noFill/>
          <a:ln/>
        </p:spPr>
        <p:txBody>
          <a:bodyPr wrap="square" lIns="170053" tIns="0" rIns="0" bIns="0" rtlCol="0" anchor="t">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Eliminated sequential processing bottlenecks</a:t>
            </a:r>
            <a:endParaRPr lang="en-US" sz="950" dirty="0"/>
          </a:p>
        </p:txBody>
      </p:sp>
      <p:sp>
        <p:nvSpPr>
          <p:cNvPr id="13" name="Text 9"/>
          <p:cNvSpPr/>
          <p:nvPr/>
        </p:nvSpPr>
        <p:spPr>
          <a:xfrm>
            <a:off x="5000625" y="3416722"/>
            <a:ext cx="3714750" cy="146447"/>
          </a:xfrm>
          <a:prstGeom prst="rect">
            <a:avLst/>
          </a:prstGeom>
          <a:noFill/>
          <a:ln/>
        </p:spPr>
        <p:txBody>
          <a:bodyPr wrap="square" lIns="170053" tIns="0" rIns="0" bIns="0" rtlCol="0" anchor="t">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Enabled training on internet-scale datasets</a:t>
            </a:r>
            <a:endParaRPr lang="en-US" sz="950" dirty="0"/>
          </a:p>
        </p:txBody>
      </p:sp>
      <p:sp>
        <p:nvSpPr>
          <p:cNvPr id="14" name="Text 10"/>
          <p:cNvSpPr/>
          <p:nvPr/>
        </p:nvSpPr>
        <p:spPr>
          <a:xfrm>
            <a:off x="5000625" y="3706044"/>
            <a:ext cx="3714750" cy="146447"/>
          </a:xfrm>
          <a:prstGeom prst="rect">
            <a:avLst/>
          </a:prstGeom>
          <a:noFill/>
          <a:ln/>
        </p:spPr>
        <p:txBody>
          <a:bodyPr wrap="square" lIns="170053" tIns="0" rIns="0" bIns="0" rtlCol="0" anchor="t">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Foundation for GPT, BERT, and all modern LLMs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3944" cy="1000125"/>
          </a:xfrm>
          <a:prstGeom prst="rect">
            <a:avLst/>
          </a:prstGeom>
          <a:solidFill>
            <a:srgbClr val="000000">
              <a:alpha val="0"/>
            </a:srgbClr>
          </a:solidFill>
          <a:ln/>
        </p:spPr>
        <p:txBody>
          <a:bodyPr/>
          <a:lstStyle/>
          <a:p>
            <a:endParaRPr lang="en-US"/>
          </a:p>
        </p:txBody>
      </p:sp>
      <p:sp>
        <p:nvSpPr>
          <p:cNvPr id="4" name="Shape 1"/>
          <p:cNvSpPr/>
          <p:nvPr/>
        </p:nvSpPr>
        <p:spPr>
          <a:xfrm>
            <a:off x="0" y="992981"/>
            <a:ext cx="9143944" cy="7144"/>
          </a:xfrm>
          <a:prstGeom prst="rect">
            <a:avLst/>
          </a:prstGeom>
          <a:solidFill>
            <a:srgbClr val="4E148C"/>
          </a:solidFill>
          <a:ln/>
        </p:spPr>
        <p:txBody>
          <a:bodyPr/>
          <a:lstStyle/>
          <a:p>
            <a:endParaRPr lang="en-US"/>
          </a:p>
        </p:txBody>
      </p:sp>
      <p:sp>
        <p:nvSpPr>
          <p:cNvPr id="5" name="Text 2"/>
          <p:cNvSpPr/>
          <p:nvPr/>
        </p:nvSpPr>
        <p:spPr>
          <a:xfrm>
            <a:off x="428625" y="428625"/>
            <a:ext cx="8715319" cy="460772"/>
          </a:xfrm>
          <a:prstGeom prst="rect">
            <a:avLst/>
          </a:prstGeom>
          <a:noFill/>
          <a:ln/>
        </p:spPr>
        <p:txBody>
          <a:bodyPr wrap="square" lIns="0" tIns="0" rIns="0" bIns="0" rtlCol="0" anchor="t">
            <a:spAutoFit/>
          </a:bodyPr>
          <a:lstStyle/>
          <a:p>
            <a:pPr marL="0" indent="0" algn="l">
              <a:buNone/>
            </a:pPr>
            <a:r>
              <a:rPr lang="en-US" sz="2850" b="1" kern="0" spc="-1" dirty="0">
                <a:solidFill>
                  <a:srgbClr val="00A86B"/>
                </a:solidFill>
                <a:latin typeface="Inter Black" pitchFamily="34" charset="0"/>
                <a:ea typeface="Inter Black" pitchFamily="34" charset="-122"/>
                <a:cs typeface="Inter Black" pitchFamily="34" charset="-120"/>
              </a:rPr>
              <a:t>SELF-ATTENTION MECHANISM</a:t>
            </a:r>
            <a:endParaRPr lang="en-US" sz="2850" dirty="0"/>
          </a:p>
        </p:txBody>
      </p:sp>
      <p:sp>
        <p:nvSpPr>
          <p:cNvPr id="6" name="Shape 3"/>
          <p:cNvSpPr/>
          <p:nvPr/>
        </p:nvSpPr>
        <p:spPr>
          <a:xfrm>
            <a:off x="0" y="1000125"/>
            <a:ext cx="5333981" cy="4143375"/>
          </a:xfrm>
          <a:prstGeom prst="rect">
            <a:avLst/>
          </a:prstGeom>
          <a:solidFill>
            <a:srgbClr val="000000">
              <a:alpha val="0"/>
            </a:srgbClr>
          </a:solidFill>
          <a:ln/>
        </p:spPr>
        <p:txBody>
          <a:bodyPr/>
          <a:lstStyle/>
          <a:p>
            <a:endParaRPr lang="en-US"/>
          </a:p>
        </p:txBody>
      </p:sp>
      <p:sp>
        <p:nvSpPr>
          <p:cNvPr id="7" name="Shape 4"/>
          <p:cNvSpPr/>
          <p:nvPr/>
        </p:nvSpPr>
        <p:spPr>
          <a:xfrm>
            <a:off x="5326838" y="1000125"/>
            <a:ext cx="7144" cy="4143375"/>
          </a:xfrm>
          <a:prstGeom prst="rect">
            <a:avLst/>
          </a:prstGeom>
          <a:solidFill>
            <a:srgbClr val="4E148C"/>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166650" y="1464469"/>
            <a:ext cx="5000625" cy="3214688"/>
          </a:xfrm>
          <a:prstGeom prst="rect">
            <a:avLst/>
          </a:prstGeom>
        </p:spPr>
      </p:pic>
      <p:sp>
        <p:nvSpPr>
          <p:cNvPr id="9" name="Text 5"/>
          <p:cNvSpPr/>
          <p:nvPr/>
        </p:nvSpPr>
        <p:spPr>
          <a:xfrm>
            <a:off x="5619731" y="1428750"/>
            <a:ext cx="3095588" cy="2121694"/>
          </a:xfrm>
          <a:prstGeom prst="rect">
            <a:avLst/>
          </a:prstGeom>
          <a:noFill/>
          <a:ln/>
        </p:spPr>
        <p:txBody>
          <a:bodyPr wrap="square" lIns="0" tIns="0" rIns="0" bIns="0" rtlCol="0" anchor="t">
            <a:spAutoFit/>
          </a:bodyPr>
          <a:lstStyle/>
          <a:p>
            <a:pPr marL="0" indent="0" algn="l">
              <a:lnSpc>
                <a:spcPct val="120000"/>
              </a:lnSpc>
              <a:buNone/>
            </a:pPr>
            <a:r>
              <a:rPr lang="en-US" sz="1150" dirty="0">
                <a:solidFill>
                  <a:srgbClr val="F4F6F8"/>
                </a:solidFill>
                <a:latin typeface="Courier New" pitchFamily="34" charset="0"/>
                <a:ea typeface="Courier New" pitchFamily="34" charset="-122"/>
                <a:cs typeface="Courier New" pitchFamily="34" charset="-120"/>
              </a:rPr>
              <a:t>Self-attention allows a model to weigh the importance of different words in a sequence when processing each token. It captures long-range dependencies and complex contextual relationships effortlessly by calculating relevance scores between all pairs of tokens.</a:t>
            </a:r>
            <a:endParaRPr lang="en-US" sz="1150" dirty="0"/>
          </a:p>
        </p:txBody>
      </p:sp>
      <p:sp>
        <p:nvSpPr>
          <p:cNvPr id="10" name="Shape 6"/>
          <p:cNvSpPr/>
          <p:nvPr/>
        </p:nvSpPr>
        <p:spPr>
          <a:xfrm>
            <a:off x="5619731" y="3836194"/>
            <a:ext cx="3095588" cy="442913"/>
          </a:xfrm>
          <a:prstGeom prst="rect">
            <a:avLst/>
          </a:prstGeom>
          <a:solidFill>
            <a:srgbClr val="4E148C"/>
          </a:solidFill>
          <a:ln/>
        </p:spPr>
        <p:txBody>
          <a:bodyPr/>
          <a:lstStyle/>
          <a:p>
            <a:endParaRPr lang="en-US"/>
          </a:p>
        </p:txBody>
      </p:sp>
      <p:sp>
        <p:nvSpPr>
          <p:cNvPr id="11" name="Text 7"/>
          <p:cNvSpPr/>
          <p:nvPr/>
        </p:nvSpPr>
        <p:spPr>
          <a:xfrm>
            <a:off x="5762606" y="3979069"/>
            <a:ext cx="2809838" cy="300038"/>
          </a:xfrm>
          <a:prstGeom prst="rect">
            <a:avLst/>
          </a:prstGeom>
          <a:noFill/>
          <a:ln/>
        </p:spPr>
        <p:txBody>
          <a:bodyPr wrap="square" lIns="0" tIns="0" rIns="0" bIns="0" rtlCol="0" anchor="t">
            <a:spAutoFit/>
          </a:bodyPr>
          <a:lstStyle/>
          <a:p>
            <a:pPr marL="0" indent="0" algn="l">
              <a:buNone/>
            </a:pPr>
            <a:r>
              <a:rPr lang="en-US" sz="900" b="1" kern="0" spc="1" dirty="0">
                <a:solidFill>
                  <a:srgbClr val="F4F6F8"/>
                </a:solidFill>
                <a:latin typeface="Inter Bold" pitchFamily="34" charset="0"/>
                <a:ea typeface="Inter Bold" pitchFamily="34" charset="-122"/>
                <a:cs typeface="Inter Bold" pitchFamily="34" charset="-120"/>
              </a:rPr>
              <a:t>CAPTURES CONTEXT REGARDLESS OF DISTANCE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3944" cy="1000125"/>
          </a:xfrm>
          <a:prstGeom prst="rect">
            <a:avLst/>
          </a:prstGeom>
          <a:solidFill>
            <a:srgbClr val="000000">
              <a:alpha val="0"/>
            </a:srgbClr>
          </a:solidFill>
          <a:ln/>
        </p:spPr>
        <p:txBody>
          <a:bodyPr/>
          <a:lstStyle/>
          <a:p>
            <a:endParaRPr lang="en-US"/>
          </a:p>
        </p:txBody>
      </p:sp>
      <p:sp>
        <p:nvSpPr>
          <p:cNvPr id="4" name="Shape 1"/>
          <p:cNvSpPr/>
          <p:nvPr/>
        </p:nvSpPr>
        <p:spPr>
          <a:xfrm>
            <a:off x="0" y="992981"/>
            <a:ext cx="9143944" cy="7144"/>
          </a:xfrm>
          <a:prstGeom prst="rect">
            <a:avLst/>
          </a:prstGeom>
          <a:solidFill>
            <a:srgbClr val="4E148C"/>
          </a:solidFill>
          <a:ln/>
        </p:spPr>
        <p:txBody>
          <a:bodyPr/>
          <a:lstStyle/>
          <a:p>
            <a:endParaRPr lang="en-US"/>
          </a:p>
        </p:txBody>
      </p:sp>
      <p:sp>
        <p:nvSpPr>
          <p:cNvPr id="5" name="Text 2"/>
          <p:cNvSpPr/>
          <p:nvPr/>
        </p:nvSpPr>
        <p:spPr>
          <a:xfrm>
            <a:off x="428625" y="428625"/>
            <a:ext cx="8715319" cy="460772"/>
          </a:xfrm>
          <a:prstGeom prst="rect">
            <a:avLst/>
          </a:prstGeom>
          <a:noFill/>
          <a:ln/>
        </p:spPr>
        <p:txBody>
          <a:bodyPr wrap="square" lIns="0" tIns="0" rIns="0" bIns="0" rtlCol="0" anchor="t">
            <a:spAutoFit/>
          </a:bodyPr>
          <a:lstStyle/>
          <a:p>
            <a:pPr marL="0" indent="0" algn="l">
              <a:buNone/>
            </a:pPr>
            <a:r>
              <a:rPr lang="en-US" sz="2850" b="1" kern="0" spc="-1" dirty="0">
                <a:solidFill>
                  <a:srgbClr val="00A86B"/>
                </a:solidFill>
                <a:latin typeface="Inter Black" pitchFamily="34" charset="0"/>
                <a:ea typeface="Inter Black" pitchFamily="34" charset="-122"/>
                <a:cs typeface="Inter Black" pitchFamily="34" charset="-120"/>
              </a:rPr>
              <a:t>ENCODER-DECODER MODELS</a:t>
            </a:r>
            <a:endParaRPr lang="en-US" sz="2850" dirty="0"/>
          </a:p>
        </p:txBody>
      </p:sp>
      <p:sp>
        <p:nvSpPr>
          <p:cNvPr id="6" name="Text 3"/>
          <p:cNvSpPr/>
          <p:nvPr/>
        </p:nvSpPr>
        <p:spPr>
          <a:xfrm>
            <a:off x="428625" y="1428750"/>
            <a:ext cx="3095588" cy="1759986"/>
          </a:xfrm>
          <a:prstGeom prst="rect">
            <a:avLst/>
          </a:prstGeom>
          <a:noFill/>
          <a:ln/>
        </p:spPr>
        <p:txBody>
          <a:bodyPr wrap="square" lIns="0" tIns="0" rIns="0" bIns="0" rtlCol="0" anchor="t">
            <a:spAutoFit/>
          </a:bodyPr>
          <a:lstStyle/>
          <a:p>
            <a:pPr marL="0" indent="0" algn="l">
              <a:lnSpc>
                <a:spcPct val="128000"/>
              </a:lnSpc>
              <a:buNone/>
            </a:pPr>
            <a:r>
              <a:rPr lang="en-US" sz="1150" dirty="0">
                <a:solidFill>
                  <a:srgbClr val="F4F6F8"/>
                </a:solidFill>
                <a:latin typeface="Courier New" pitchFamily="34" charset="0"/>
                <a:ea typeface="Courier New" pitchFamily="34" charset="-122"/>
                <a:cs typeface="Courier New" pitchFamily="34" charset="-120"/>
              </a:rPr>
              <a:t>Encoder-decoder architectures, like T5, are designed for sequence-to-sequence tasks. The encoder processes the input into a context vector, which the decoder then uses to generate the output sequence.</a:t>
            </a:r>
            <a:endParaRPr lang="en-US" sz="1150" dirty="0"/>
          </a:p>
        </p:txBody>
      </p:sp>
      <p:sp>
        <p:nvSpPr>
          <p:cNvPr id="7" name="Shape 4"/>
          <p:cNvSpPr/>
          <p:nvPr/>
        </p:nvSpPr>
        <p:spPr>
          <a:xfrm>
            <a:off x="428625" y="3474486"/>
            <a:ext cx="3095588" cy="907256"/>
          </a:xfrm>
          <a:prstGeom prst="rect">
            <a:avLst/>
          </a:prstGeom>
          <a:solidFill>
            <a:srgbClr val="4E148C">
              <a:alpha val="10000"/>
            </a:srgbClr>
          </a:solidFill>
          <a:ln w="9144">
            <a:solidFill>
              <a:srgbClr val="4E148C"/>
            </a:solidFill>
            <a:prstDash val="solid"/>
          </a:ln>
        </p:spPr>
        <p:txBody>
          <a:bodyPr/>
          <a:lstStyle/>
          <a:p>
            <a:endParaRPr lang="en-US"/>
          </a:p>
        </p:txBody>
      </p:sp>
      <p:sp>
        <p:nvSpPr>
          <p:cNvPr id="8" name="Text 5"/>
          <p:cNvSpPr/>
          <p:nvPr/>
        </p:nvSpPr>
        <p:spPr>
          <a:xfrm>
            <a:off x="571500" y="3617361"/>
            <a:ext cx="2809838" cy="132159"/>
          </a:xfrm>
          <a:prstGeom prst="rect">
            <a:avLst/>
          </a:prstGeom>
          <a:noFill/>
          <a:ln/>
        </p:spPr>
        <p:txBody>
          <a:bodyPr wrap="square" lIns="0" tIns="0" rIns="0" bIns="0" rtlCol="0" anchor="t">
            <a:spAutoFit/>
          </a:bodyPr>
          <a:lstStyle/>
          <a:p>
            <a:pPr marL="0" indent="0" algn="l">
              <a:buNone/>
            </a:pPr>
            <a:r>
              <a:rPr lang="en-US" sz="800" b="1" dirty="0">
                <a:solidFill>
                  <a:srgbClr val="00A86B"/>
                </a:solidFill>
                <a:latin typeface="Inter Bold" pitchFamily="34" charset="0"/>
                <a:ea typeface="Inter Bold" pitchFamily="34" charset="-122"/>
                <a:cs typeface="Inter Bold" pitchFamily="34" charset="-120"/>
              </a:rPr>
              <a:t>PRIMARY USE CASES</a:t>
            </a:r>
            <a:endParaRPr lang="en-US" sz="800" dirty="0"/>
          </a:p>
        </p:txBody>
      </p:sp>
      <p:sp>
        <p:nvSpPr>
          <p:cNvPr id="9" name="Text 6"/>
          <p:cNvSpPr/>
          <p:nvPr/>
        </p:nvSpPr>
        <p:spPr>
          <a:xfrm>
            <a:off x="571500" y="3820957"/>
            <a:ext cx="2809838" cy="182166"/>
          </a:xfrm>
          <a:prstGeom prst="rect">
            <a:avLst/>
          </a:prstGeom>
          <a:noFill/>
          <a:ln/>
        </p:spPr>
        <p:txBody>
          <a:bodyPr wrap="square" lIns="0" tIns="42545" rIns="0" bIns="0" rtlCol="0" anchor="t">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&gt; Machine Translation</a:t>
            </a:r>
            <a:endParaRPr lang="en-US" sz="950" dirty="0"/>
          </a:p>
        </p:txBody>
      </p:sp>
      <p:sp>
        <p:nvSpPr>
          <p:cNvPr id="10" name="Text 7"/>
          <p:cNvSpPr/>
          <p:nvPr/>
        </p:nvSpPr>
        <p:spPr>
          <a:xfrm>
            <a:off x="571500" y="4003123"/>
            <a:ext cx="2809838" cy="182166"/>
          </a:xfrm>
          <a:prstGeom prst="rect">
            <a:avLst/>
          </a:prstGeom>
          <a:noFill/>
          <a:ln/>
        </p:spPr>
        <p:txBody>
          <a:bodyPr wrap="square" lIns="0" tIns="42545" rIns="0" bIns="0" rtlCol="0" anchor="t">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&gt; Text Summarization</a:t>
            </a:r>
            <a:endParaRPr lang="en-US" sz="950" dirty="0"/>
          </a:p>
        </p:txBody>
      </p:sp>
      <p:sp>
        <p:nvSpPr>
          <p:cNvPr id="11" name="Text 8"/>
          <p:cNvSpPr/>
          <p:nvPr/>
        </p:nvSpPr>
        <p:spPr>
          <a:xfrm>
            <a:off x="571500" y="4185289"/>
            <a:ext cx="2809838" cy="182166"/>
          </a:xfrm>
          <a:prstGeom prst="rect">
            <a:avLst/>
          </a:prstGeom>
          <a:noFill/>
          <a:ln/>
        </p:spPr>
        <p:txBody>
          <a:bodyPr wrap="square" lIns="0" tIns="42545" rIns="0" bIns="0" rtlCol="0" anchor="t">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&gt; Question Answering</a:t>
            </a:r>
            <a:endParaRPr lang="en-US" sz="950" dirty="0"/>
          </a:p>
        </p:txBody>
      </p:sp>
      <p:pic>
        <p:nvPicPr>
          <p:cNvPr id="12" name="Image 1" descr="preencoded.png"/>
          <p:cNvPicPr>
            <a:picLocks noChangeAspect="1"/>
          </p:cNvPicPr>
          <p:nvPr/>
        </p:nvPicPr>
        <p:blipFill>
          <a:blip r:embed="rId4"/>
          <a:stretch>
            <a:fillRect/>
          </a:stretch>
        </p:blipFill>
        <p:spPr>
          <a:xfrm>
            <a:off x="3833738" y="1464469"/>
            <a:ext cx="4857750" cy="32146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3944" cy="1000125"/>
          </a:xfrm>
          <a:prstGeom prst="rect">
            <a:avLst/>
          </a:prstGeom>
          <a:solidFill>
            <a:srgbClr val="000000">
              <a:alpha val="0"/>
            </a:srgbClr>
          </a:solidFill>
          <a:ln/>
        </p:spPr>
        <p:txBody>
          <a:bodyPr/>
          <a:lstStyle/>
          <a:p>
            <a:endParaRPr lang="en-US"/>
          </a:p>
        </p:txBody>
      </p:sp>
      <p:sp>
        <p:nvSpPr>
          <p:cNvPr id="4" name="Shape 1"/>
          <p:cNvSpPr/>
          <p:nvPr/>
        </p:nvSpPr>
        <p:spPr>
          <a:xfrm>
            <a:off x="0" y="992981"/>
            <a:ext cx="9143944" cy="7144"/>
          </a:xfrm>
          <a:prstGeom prst="rect">
            <a:avLst/>
          </a:prstGeom>
          <a:solidFill>
            <a:srgbClr val="4E148C"/>
          </a:solidFill>
          <a:ln/>
        </p:spPr>
        <p:txBody>
          <a:bodyPr/>
          <a:lstStyle/>
          <a:p>
            <a:endParaRPr lang="en-US"/>
          </a:p>
        </p:txBody>
      </p:sp>
      <p:sp>
        <p:nvSpPr>
          <p:cNvPr id="5" name="Text 2"/>
          <p:cNvSpPr/>
          <p:nvPr/>
        </p:nvSpPr>
        <p:spPr>
          <a:xfrm>
            <a:off x="428625" y="428625"/>
            <a:ext cx="8715319" cy="460772"/>
          </a:xfrm>
          <a:prstGeom prst="rect">
            <a:avLst/>
          </a:prstGeom>
          <a:noFill/>
          <a:ln/>
        </p:spPr>
        <p:txBody>
          <a:bodyPr wrap="square" lIns="0" tIns="0" rIns="0" bIns="0" rtlCol="0" anchor="t">
            <a:spAutoFit/>
          </a:bodyPr>
          <a:lstStyle/>
          <a:p>
            <a:pPr marL="0" indent="0" algn="l">
              <a:buNone/>
            </a:pPr>
            <a:r>
              <a:rPr lang="en-US" sz="2850" b="1" kern="0" spc="-1" dirty="0">
                <a:solidFill>
                  <a:srgbClr val="00A86B"/>
                </a:solidFill>
                <a:latin typeface="Inter Black" pitchFamily="34" charset="0"/>
                <a:ea typeface="Inter Black" pitchFamily="34" charset="-122"/>
                <a:cs typeface="Inter Black" pitchFamily="34" charset="-120"/>
              </a:rPr>
              <a:t>ENCODER-ONLY MODELS</a:t>
            </a:r>
            <a:endParaRPr lang="en-US" sz="2850" dirty="0"/>
          </a:p>
        </p:txBody>
      </p:sp>
      <p:sp>
        <p:nvSpPr>
          <p:cNvPr id="6" name="Shape 3"/>
          <p:cNvSpPr/>
          <p:nvPr/>
        </p:nvSpPr>
        <p:spPr>
          <a:xfrm>
            <a:off x="0" y="1000125"/>
            <a:ext cx="5333981" cy="4143375"/>
          </a:xfrm>
          <a:prstGeom prst="rect">
            <a:avLst/>
          </a:prstGeom>
          <a:solidFill>
            <a:srgbClr val="000000">
              <a:alpha val="0"/>
            </a:srgbClr>
          </a:solidFill>
          <a:ln/>
        </p:spPr>
        <p:txBody>
          <a:bodyPr/>
          <a:lstStyle/>
          <a:p>
            <a:endParaRPr lang="en-US"/>
          </a:p>
        </p:txBody>
      </p:sp>
      <p:sp>
        <p:nvSpPr>
          <p:cNvPr id="7" name="Shape 4"/>
          <p:cNvSpPr/>
          <p:nvPr/>
        </p:nvSpPr>
        <p:spPr>
          <a:xfrm>
            <a:off x="5326838" y="1000125"/>
            <a:ext cx="7144" cy="4143375"/>
          </a:xfrm>
          <a:prstGeom prst="rect">
            <a:avLst/>
          </a:prstGeom>
          <a:solidFill>
            <a:srgbClr val="4E148C"/>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238088" y="1464469"/>
            <a:ext cx="4857750" cy="3214688"/>
          </a:xfrm>
          <a:prstGeom prst="rect">
            <a:avLst/>
          </a:prstGeom>
        </p:spPr>
      </p:pic>
      <p:sp>
        <p:nvSpPr>
          <p:cNvPr id="9" name="Text 5"/>
          <p:cNvSpPr/>
          <p:nvPr/>
        </p:nvSpPr>
        <p:spPr>
          <a:xfrm>
            <a:off x="5619731" y="1428750"/>
            <a:ext cx="3095588" cy="942975"/>
          </a:xfrm>
          <a:prstGeom prst="rect">
            <a:avLst/>
          </a:prstGeom>
          <a:noFill/>
          <a:ln/>
        </p:spPr>
        <p:txBody>
          <a:bodyPr wrap="square" lIns="0" tIns="0" rIns="0" bIns="0" rtlCol="0" anchor="t">
            <a:spAutoFit/>
          </a:bodyPr>
          <a:lstStyle/>
          <a:p>
            <a:pPr marL="0" indent="0" algn="l">
              <a:lnSpc>
                <a:spcPct val="120000"/>
              </a:lnSpc>
              <a:buNone/>
            </a:pPr>
            <a:r>
              <a:rPr lang="en-US" sz="1150" dirty="0">
                <a:solidFill>
                  <a:srgbClr val="F4F6F8"/>
                </a:solidFill>
                <a:latin typeface="Courier New" pitchFamily="34" charset="0"/>
                <a:ea typeface="Courier New" pitchFamily="34" charset="-122"/>
                <a:cs typeface="Courier New" pitchFamily="34" charset="-120"/>
              </a:rPr>
              <a:t>Encoder-only models like BERT are designed to understand the deep context of language by processing text bidirectionally.</a:t>
            </a:r>
            <a:endParaRPr lang="en-US" sz="1150" dirty="0"/>
          </a:p>
        </p:txBody>
      </p:sp>
      <p:sp>
        <p:nvSpPr>
          <p:cNvPr id="10" name="Text 6"/>
          <p:cNvSpPr/>
          <p:nvPr/>
        </p:nvSpPr>
        <p:spPr>
          <a:xfrm>
            <a:off x="5619731" y="2586038"/>
            <a:ext cx="3095588" cy="146447"/>
          </a:xfrm>
          <a:prstGeom prst="rect">
            <a:avLst/>
          </a:prstGeom>
          <a:noFill/>
          <a:ln/>
        </p:spPr>
        <p:txBody>
          <a:bodyPr wrap="square" lIns="212598" tIns="0" rIns="0" bIns="0" rtlCol="0" anchor="t">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Bidirectional Contextualization</a:t>
            </a:r>
            <a:endParaRPr lang="en-US" sz="950" dirty="0"/>
          </a:p>
        </p:txBody>
      </p:sp>
      <p:sp>
        <p:nvSpPr>
          <p:cNvPr id="11" name="Text 7"/>
          <p:cNvSpPr/>
          <p:nvPr/>
        </p:nvSpPr>
        <p:spPr>
          <a:xfrm>
            <a:off x="5619731" y="2839641"/>
            <a:ext cx="3095588" cy="146447"/>
          </a:xfrm>
          <a:prstGeom prst="rect">
            <a:avLst/>
          </a:prstGeom>
          <a:noFill/>
          <a:ln/>
        </p:spPr>
        <p:txBody>
          <a:bodyPr wrap="square" lIns="212598" tIns="0" rIns="0" bIns="0" rtlCol="0" anchor="t">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Masked Language Modeling (MLM)</a:t>
            </a:r>
            <a:endParaRPr lang="en-US" sz="950" dirty="0"/>
          </a:p>
        </p:txBody>
      </p:sp>
      <p:sp>
        <p:nvSpPr>
          <p:cNvPr id="12" name="Text 8"/>
          <p:cNvSpPr/>
          <p:nvPr/>
        </p:nvSpPr>
        <p:spPr>
          <a:xfrm>
            <a:off x="5619731" y="3093244"/>
            <a:ext cx="3095588" cy="146447"/>
          </a:xfrm>
          <a:prstGeom prst="rect">
            <a:avLst/>
          </a:prstGeom>
          <a:noFill/>
          <a:ln/>
        </p:spPr>
        <p:txBody>
          <a:bodyPr wrap="square" lIns="212598" tIns="0" rIns="0" bIns="0" rtlCol="0" anchor="t">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Next Sentence Prediction (NSP)</a:t>
            </a:r>
            <a:endParaRPr lang="en-US" sz="950" dirty="0"/>
          </a:p>
        </p:txBody>
      </p:sp>
      <p:sp>
        <p:nvSpPr>
          <p:cNvPr id="13" name="Text 9"/>
          <p:cNvSpPr/>
          <p:nvPr/>
        </p:nvSpPr>
        <p:spPr>
          <a:xfrm>
            <a:off x="5619731" y="3346847"/>
            <a:ext cx="3095588" cy="146447"/>
          </a:xfrm>
          <a:prstGeom prst="rect">
            <a:avLst/>
          </a:prstGeom>
          <a:noFill/>
          <a:ln/>
        </p:spPr>
        <p:txBody>
          <a:bodyPr wrap="square" lIns="212598" tIns="0" rIns="0" bIns="0" rtlCol="0" anchor="t">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Ideal for NLU (Understanding)</a:t>
            </a:r>
            <a:endParaRPr lang="en-US" sz="950" dirty="0"/>
          </a:p>
        </p:txBody>
      </p:sp>
      <p:sp>
        <p:nvSpPr>
          <p:cNvPr id="14" name="Shape 10"/>
          <p:cNvSpPr/>
          <p:nvPr/>
        </p:nvSpPr>
        <p:spPr>
          <a:xfrm>
            <a:off x="5619731" y="3779044"/>
            <a:ext cx="3095588" cy="253603"/>
          </a:xfrm>
          <a:prstGeom prst="rect">
            <a:avLst/>
          </a:prstGeom>
          <a:solidFill>
            <a:srgbClr val="00A86B"/>
          </a:solidFill>
          <a:ln w="9144">
            <a:solidFill>
              <a:srgbClr val="F4F6F8"/>
            </a:solidFill>
            <a:prstDash val="solid"/>
          </a:ln>
        </p:spPr>
        <p:txBody>
          <a:bodyPr/>
          <a:lstStyle/>
          <a:p>
            <a:endParaRPr lang="en-US"/>
          </a:p>
        </p:txBody>
      </p:sp>
      <p:sp>
        <p:nvSpPr>
          <p:cNvPr id="15" name="Text 11"/>
          <p:cNvSpPr/>
          <p:nvPr/>
        </p:nvSpPr>
        <p:spPr>
          <a:xfrm>
            <a:off x="5619731" y="2586038"/>
            <a:ext cx="77186" cy="146447"/>
          </a:xfrm>
          <a:prstGeom prst="rect">
            <a:avLst/>
          </a:prstGeom>
          <a:noFill/>
          <a:ln/>
        </p:spPr>
        <p:txBody>
          <a:bodyPr wrap="none" lIns="0" tIns="0" rIns="0" bIns="0" rtlCol="0" anchor="t">
            <a:spAutoFit/>
          </a:bodyPr>
          <a:lstStyle/>
          <a:p>
            <a:pPr marL="0" indent="0" algn="l">
              <a:buNone/>
            </a:pPr>
            <a:r>
              <a:rPr lang="en-US" sz="900" b="1" dirty="0">
                <a:solidFill>
                  <a:srgbClr val="00A86B"/>
                </a:solidFill>
                <a:latin typeface="Courier New" pitchFamily="34" charset="0"/>
                <a:ea typeface="Courier New" pitchFamily="34" charset="-122"/>
                <a:cs typeface="Courier New" pitchFamily="34" charset="-120"/>
              </a:rPr>
              <a:t>&gt;</a:t>
            </a:r>
            <a:endParaRPr lang="en-US" sz="900" dirty="0"/>
          </a:p>
        </p:txBody>
      </p:sp>
      <p:sp>
        <p:nvSpPr>
          <p:cNvPr id="16" name="Text 12"/>
          <p:cNvSpPr/>
          <p:nvPr/>
        </p:nvSpPr>
        <p:spPr>
          <a:xfrm>
            <a:off x="5619731" y="2839641"/>
            <a:ext cx="77186" cy="146447"/>
          </a:xfrm>
          <a:prstGeom prst="rect">
            <a:avLst/>
          </a:prstGeom>
          <a:noFill/>
          <a:ln/>
        </p:spPr>
        <p:txBody>
          <a:bodyPr wrap="none" lIns="0" tIns="0" rIns="0" bIns="0" rtlCol="0" anchor="t">
            <a:spAutoFit/>
          </a:bodyPr>
          <a:lstStyle/>
          <a:p>
            <a:pPr marL="0" indent="0" algn="l">
              <a:buNone/>
            </a:pPr>
            <a:r>
              <a:rPr lang="en-US" sz="900" b="1" dirty="0">
                <a:solidFill>
                  <a:srgbClr val="00A86B"/>
                </a:solidFill>
                <a:latin typeface="Courier New" pitchFamily="34" charset="0"/>
                <a:ea typeface="Courier New" pitchFamily="34" charset="-122"/>
                <a:cs typeface="Courier New" pitchFamily="34" charset="-120"/>
              </a:rPr>
              <a:t>&gt;</a:t>
            </a:r>
            <a:endParaRPr lang="en-US" sz="900" dirty="0"/>
          </a:p>
        </p:txBody>
      </p:sp>
      <p:sp>
        <p:nvSpPr>
          <p:cNvPr id="17" name="Text 13"/>
          <p:cNvSpPr/>
          <p:nvPr/>
        </p:nvSpPr>
        <p:spPr>
          <a:xfrm>
            <a:off x="5619731" y="3093244"/>
            <a:ext cx="77186" cy="146447"/>
          </a:xfrm>
          <a:prstGeom prst="rect">
            <a:avLst/>
          </a:prstGeom>
          <a:noFill/>
          <a:ln/>
        </p:spPr>
        <p:txBody>
          <a:bodyPr wrap="none" lIns="0" tIns="0" rIns="0" bIns="0" rtlCol="0" anchor="t">
            <a:spAutoFit/>
          </a:bodyPr>
          <a:lstStyle/>
          <a:p>
            <a:pPr marL="0" indent="0" algn="l">
              <a:buNone/>
            </a:pPr>
            <a:r>
              <a:rPr lang="en-US" sz="900" b="1" dirty="0">
                <a:solidFill>
                  <a:srgbClr val="00A86B"/>
                </a:solidFill>
                <a:latin typeface="Courier New" pitchFamily="34" charset="0"/>
                <a:ea typeface="Courier New" pitchFamily="34" charset="-122"/>
                <a:cs typeface="Courier New" pitchFamily="34" charset="-120"/>
              </a:rPr>
              <a:t>&gt;</a:t>
            </a:r>
            <a:endParaRPr lang="en-US" sz="900" dirty="0"/>
          </a:p>
        </p:txBody>
      </p:sp>
      <p:sp>
        <p:nvSpPr>
          <p:cNvPr id="18" name="Text 14"/>
          <p:cNvSpPr/>
          <p:nvPr/>
        </p:nvSpPr>
        <p:spPr>
          <a:xfrm>
            <a:off x="5619731" y="3346847"/>
            <a:ext cx="77186" cy="146447"/>
          </a:xfrm>
          <a:prstGeom prst="rect">
            <a:avLst/>
          </a:prstGeom>
          <a:noFill/>
          <a:ln/>
        </p:spPr>
        <p:txBody>
          <a:bodyPr wrap="none" lIns="0" tIns="0" rIns="0" bIns="0" rtlCol="0" anchor="t">
            <a:spAutoFit/>
          </a:bodyPr>
          <a:lstStyle/>
          <a:p>
            <a:pPr marL="0" indent="0" algn="l">
              <a:buNone/>
            </a:pPr>
            <a:r>
              <a:rPr lang="en-US" sz="900" b="1" dirty="0">
                <a:solidFill>
                  <a:srgbClr val="00A86B"/>
                </a:solidFill>
                <a:latin typeface="Courier New" pitchFamily="34" charset="0"/>
                <a:ea typeface="Courier New" pitchFamily="34" charset="-122"/>
                <a:cs typeface="Courier New" pitchFamily="34" charset="-120"/>
              </a:rPr>
              <a:t>&gt;</a:t>
            </a:r>
            <a:endParaRPr lang="en-US" sz="900" dirty="0"/>
          </a:p>
        </p:txBody>
      </p:sp>
      <p:sp>
        <p:nvSpPr>
          <p:cNvPr id="19" name="Text 15"/>
          <p:cNvSpPr/>
          <p:nvPr/>
        </p:nvSpPr>
        <p:spPr>
          <a:xfrm>
            <a:off x="5762606" y="3886200"/>
            <a:ext cx="2809838" cy="132159"/>
          </a:xfrm>
          <a:prstGeom prst="rect">
            <a:avLst/>
          </a:prstGeom>
          <a:noFill/>
          <a:ln/>
        </p:spPr>
        <p:txBody>
          <a:bodyPr wrap="square" lIns="0" tIns="0" rIns="0" bIns="0" rtlCol="0" anchor="t">
            <a:spAutoFit/>
          </a:bodyPr>
          <a:lstStyle/>
          <a:p>
            <a:pPr marL="0" indent="0" algn="l">
              <a:buNone/>
            </a:pPr>
            <a:r>
              <a:rPr lang="en-US" sz="800" b="1" kern="0" spc="1" dirty="0">
                <a:solidFill>
                  <a:srgbClr val="0A192F"/>
                </a:solidFill>
                <a:latin typeface="Inter Black" pitchFamily="34" charset="0"/>
                <a:ea typeface="Inter Black" pitchFamily="34" charset="-122"/>
                <a:cs typeface="Inter Black" pitchFamily="34" charset="-120"/>
              </a:rPr>
              <a:t>BEST FOR: CLASSIFICATION &amp; NER</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187816"/>
          </a:xfrm>
          <a:prstGeom prst="rect">
            <a:avLst/>
          </a:prstGeom>
          <a:solidFill>
            <a:srgbClr val="000000">
              <a:alpha val="0"/>
            </a:srgbClr>
          </a:solidFill>
          <a:ln/>
        </p:spPr>
        <p:txBody>
          <a:bodyPr/>
          <a:lstStyle/>
          <a:p>
            <a:endParaRPr lang="en-US"/>
          </a:p>
        </p:txBody>
      </p:sp>
      <p:sp>
        <p:nvSpPr>
          <p:cNvPr id="4" name="Shape 1"/>
          <p:cNvSpPr/>
          <p:nvPr/>
        </p:nvSpPr>
        <p:spPr>
          <a:xfrm>
            <a:off x="0" y="1180672"/>
            <a:ext cx="9144000" cy="7144"/>
          </a:xfrm>
          <a:prstGeom prst="rect">
            <a:avLst/>
          </a:prstGeom>
          <a:solidFill>
            <a:srgbClr val="4E148C"/>
          </a:solidFill>
          <a:ln/>
        </p:spPr>
        <p:txBody>
          <a:bodyPr/>
          <a:lstStyle/>
          <a:p>
            <a:endParaRPr lang="en-US"/>
          </a:p>
        </p:txBody>
      </p:sp>
      <p:sp>
        <p:nvSpPr>
          <p:cNvPr id="5" name="Text 2"/>
          <p:cNvSpPr/>
          <p:nvPr/>
        </p:nvSpPr>
        <p:spPr>
          <a:xfrm>
            <a:off x="428625" y="428625"/>
            <a:ext cx="8715375" cy="460772"/>
          </a:xfrm>
          <a:prstGeom prst="rect">
            <a:avLst/>
          </a:prstGeom>
          <a:noFill/>
          <a:ln/>
        </p:spPr>
        <p:txBody>
          <a:bodyPr wrap="square" lIns="0" tIns="0" rIns="0" bIns="0" rtlCol="0" anchor="t">
            <a:spAutoFit/>
          </a:bodyPr>
          <a:lstStyle/>
          <a:p>
            <a:pPr marL="0" indent="0" algn="l">
              <a:buNone/>
            </a:pPr>
            <a:r>
              <a:rPr lang="en-US" sz="2850" b="1" kern="0" spc="-1" dirty="0">
                <a:solidFill>
                  <a:srgbClr val="00A86B"/>
                </a:solidFill>
                <a:latin typeface="Inter Black" pitchFamily="34" charset="0"/>
                <a:ea typeface="Inter Black" pitchFamily="34" charset="-122"/>
                <a:cs typeface="Inter Black" pitchFamily="34" charset="-120"/>
              </a:rPr>
              <a:t>DECODER-ONLY MODELS</a:t>
            </a:r>
            <a:endParaRPr lang="en-US" sz="2850" dirty="0"/>
          </a:p>
        </p:txBody>
      </p:sp>
      <p:sp>
        <p:nvSpPr>
          <p:cNvPr id="6" name="Shape 3"/>
          <p:cNvSpPr/>
          <p:nvPr/>
        </p:nvSpPr>
        <p:spPr>
          <a:xfrm>
            <a:off x="0" y="1187816"/>
            <a:ext cx="4572000" cy="3714750"/>
          </a:xfrm>
          <a:prstGeom prst="rect">
            <a:avLst/>
          </a:prstGeom>
          <a:solidFill>
            <a:srgbClr val="000000">
              <a:alpha val="0"/>
            </a:srgbClr>
          </a:solidFill>
          <a:ln/>
        </p:spPr>
        <p:txBody>
          <a:bodyPr/>
          <a:lstStyle/>
          <a:p>
            <a:endParaRPr lang="en-US"/>
          </a:p>
        </p:txBody>
      </p:sp>
      <p:sp>
        <p:nvSpPr>
          <p:cNvPr id="7" name="Shape 4"/>
          <p:cNvSpPr/>
          <p:nvPr/>
        </p:nvSpPr>
        <p:spPr>
          <a:xfrm>
            <a:off x="4564856" y="1187816"/>
            <a:ext cx="7144" cy="3714750"/>
          </a:xfrm>
          <a:prstGeom prst="rect">
            <a:avLst/>
          </a:prstGeom>
          <a:solidFill>
            <a:srgbClr val="4E148C"/>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428625" y="1759316"/>
            <a:ext cx="3714750" cy="2571750"/>
          </a:xfrm>
          <a:prstGeom prst="rect">
            <a:avLst/>
          </a:prstGeom>
        </p:spPr>
      </p:pic>
      <p:sp>
        <p:nvSpPr>
          <p:cNvPr id="9" name="Text 5"/>
          <p:cNvSpPr/>
          <p:nvPr/>
        </p:nvSpPr>
        <p:spPr>
          <a:xfrm>
            <a:off x="4857750" y="1402128"/>
            <a:ext cx="4000500" cy="1257133"/>
          </a:xfrm>
          <a:prstGeom prst="rect">
            <a:avLst/>
          </a:prstGeom>
          <a:noFill/>
          <a:ln/>
        </p:spPr>
        <p:txBody>
          <a:bodyPr wrap="square" lIns="0" tIns="0" rIns="0" bIns="0" rtlCol="0" anchor="t">
            <a:spAutoFit/>
          </a:bodyPr>
          <a:lstStyle/>
          <a:p>
            <a:pPr marL="0" indent="0" algn="l">
              <a:lnSpc>
                <a:spcPct val="128000"/>
              </a:lnSpc>
              <a:buNone/>
            </a:pPr>
            <a:r>
              <a:rPr lang="en-US" sz="1150" dirty="0">
                <a:solidFill>
                  <a:srgbClr val="F4F6F8"/>
                </a:solidFill>
                <a:latin typeface="Courier New" pitchFamily="34" charset="0"/>
                <a:ea typeface="Courier New" pitchFamily="34" charset="-122"/>
                <a:cs typeface="Courier New" pitchFamily="34" charset="-120"/>
              </a:rPr>
              <a:t>Primarily used for generative tasks, decoder-only models predict the next token in a sequence based on preceding context. This "writer" approach is the engine behind modern chatbots and creative AI.</a:t>
            </a:r>
            <a:endParaRPr lang="en-US" sz="1150" dirty="0"/>
          </a:p>
        </p:txBody>
      </p:sp>
      <p:sp>
        <p:nvSpPr>
          <p:cNvPr id="10" name="Shape 6"/>
          <p:cNvSpPr/>
          <p:nvPr/>
        </p:nvSpPr>
        <p:spPr>
          <a:xfrm>
            <a:off x="4857750" y="2744986"/>
            <a:ext cx="4000500" cy="735025"/>
          </a:xfrm>
          <a:prstGeom prst="rect">
            <a:avLst/>
          </a:prstGeom>
          <a:solidFill>
            <a:srgbClr val="4E148C">
              <a:alpha val="10000"/>
            </a:srgbClr>
          </a:solidFill>
          <a:ln w="9144">
            <a:solidFill>
              <a:srgbClr val="4E148C"/>
            </a:solidFill>
            <a:prstDash val="solid"/>
          </a:ln>
        </p:spPr>
        <p:txBody>
          <a:bodyPr/>
          <a:lstStyle/>
          <a:p>
            <a:endParaRPr lang="en-US"/>
          </a:p>
        </p:txBody>
      </p:sp>
      <p:sp>
        <p:nvSpPr>
          <p:cNvPr id="11" name="Text 7"/>
          <p:cNvSpPr/>
          <p:nvPr/>
        </p:nvSpPr>
        <p:spPr>
          <a:xfrm>
            <a:off x="4957763" y="2809280"/>
            <a:ext cx="3900488" cy="132159"/>
          </a:xfrm>
          <a:prstGeom prst="rect">
            <a:avLst/>
          </a:prstGeom>
          <a:noFill/>
          <a:ln/>
        </p:spPr>
        <p:txBody>
          <a:bodyPr wrap="square" lIns="0" tIns="0" rIns="0" bIns="0" rtlCol="0" anchor="t">
            <a:spAutoFit/>
          </a:bodyPr>
          <a:lstStyle/>
          <a:p>
            <a:pPr marL="0" indent="0" algn="l">
              <a:buNone/>
            </a:pPr>
            <a:r>
              <a:rPr lang="en-US" sz="800" b="1" dirty="0">
                <a:solidFill>
                  <a:srgbClr val="00A86B"/>
                </a:solidFill>
                <a:latin typeface="Inter Bold" pitchFamily="34" charset="0"/>
                <a:ea typeface="Inter Bold" pitchFamily="34" charset="-122"/>
                <a:cs typeface="Inter Bold" pitchFamily="34" charset="-120"/>
              </a:rPr>
              <a:t>CAUSAL ATTENTION</a:t>
            </a:r>
            <a:endParaRPr lang="en-US" sz="800" dirty="0"/>
          </a:p>
        </p:txBody>
      </p:sp>
      <p:sp>
        <p:nvSpPr>
          <p:cNvPr id="12" name="Text 8"/>
          <p:cNvSpPr/>
          <p:nvPr/>
        </p:nvSpPr>
        <p:spPr>
          <a:xfrm>
            <a:off x="4957763" y="2970014"/>
            <a:ext cx="3900488" cy="502853"/>
          </a:xfrm>
          <a:prstGeom prst="rect">
            <a:avLst/>
          </a:prstGeom>
          <a:noFill/>
          <a:ln/>
        </p:spPr>
        <p:txBody>
          <a:bodyPr wrap="square" lIns="0" tIns="0" rIns="0" bIns="0" rtlCol="0" anchor="t">
            <a:spAutoFit/>
          </a:bodyPr>
          <a:lstStyle/>
          <a:p>
            <a:pPr marL="0" indent="0" algn="l">
              <a:lnSpc>
                <a:spcPct val="128000"/>
              </a:lnSpc>
              <a:buNone/>
            </a:pPr>
            <a:r>
              <a:rPr lang="en-US" sz="1150" dirty="0">
                <a:solidFill>
                  <a:srgbClr val="F4F6F8"/>
                </a:solidFill>
                <a:latin typeface="Courier New" pitchFamily="34" charset="0"/>
                <a:ea typeface="Courier New" pitchFamily="34" charset="-122"/>
                <a:cs typeface="Courier New" pitchFamily="34" charset="-120"/>
              </a:rPr>
              <a:t>Tokens only attend to previous positions in the sequence.</a:t>
            </a:r>
            <a:endParaRPr lang="en-US" sz="1150" dirty="0"/>
          </a:p>
        </p:txBody>
      </p:sp>
      <p:sp>
        <p:nvSpPr>
          <p:cNvPr id="13" name="Shape 9"/>
          <p:cNvSpPr/>
          <p:nvPr/>
        </p:nvSpPr>
        <p:spPr>
          <a:xfrm>
            <a:off x="4857750" y="3558592"/>
            <a:ext cx="4000500" cy="483598"/>
          </a:xfrm>
          <a:prstGeom prst="rect">
            <a:avLst/>
          </a:prstGeom>
          <a:solidFill>
            <a:srgbClr val="4E148C">
              <a:alpha val="10000"/>
            </a:srgbClr>
          </a:solidFill>
          <a:ln w="9144">
            <a:solidFill>
              <a:srgbClr val="4E148C"/>
            </a:solidFill>
            <a:prstDash val="solid"/>
          </a:ln>
        </p:spPr>
        <p:txBody>
          <a:bodyPr/>
          <a:lstStyle/>
          <a:p>
            <a:endParaRPr lang="en-US"/>
          </a:p>
        </p:txBody>
      </p:sp>
      <p:sp>
        <p:nvSpPr>
          <p:cNvPr id="14" name="Text 10"/>
          <p:cNvSpPr/>
          <p:nvPr/>
        </p:nvSpPr>
        <p:spPr>
          <a:xfrm>
            <a:off x="4957763" y="3622886"/>
            <a:ext cx="3900488" cy="132159"/>
          </a:xfrm>
          <a:prstGeom prst="rect">
            <a:avLst/>
          </a:prstGeom>
          <a:noFill/>
          <a:ln/>
        </p:spPr>
        <p:txBody>
          <a:bodyPr wrap="square" lIns="0" tIns="0" rIns="0" bIns="0" rtlCol="0" anchor="t">
            <a:spAutoFit/>
          </a:bodyPr>
          <a:lstStyle/>
          <a:p>
            <a:pPr marL="0" indent="0" algn="l">
              <a:buNone/>
            </a:pPr>
            <a:r>
              <a:rPr lang="en-US" sz="800" b="1" dirty="0">
                <a:solidFill>
                  <a:srgbClr val="00A86B"/>
                </a:solidFill>
                <a:latin typeface="Inter Bold" pitchFamily="34" charset="0"/>
                <a:ea typeface="Inter Bold" pitchFamily="34" charset="-122"/>
                <a:cs typeface="Inter Bold" pitchFamily="34" charset="-120"/>
              </a:rPr>
              <a:t>KEY EXAMPLES</a:t>
            </a:r>
            <a:endParaRPr lang="en-US" sz="800" dirty="0"/>
          </a:p>
        </p:txBody>
      </p:sp>
      <p:sp>
        <p:nvSpPr>
          <p:cNvPr id="15" name="Text 11"/>
          <p:cNvSpPr/>
          <p:nvPr/>
        </p:nvSpPr>
        <p:spPr>
          <a:xfrm>
            <a:off x="4957763" y="3783620"/>
            <a:ext cx="3900488" cy="251427"/>
          </a:xfrm>
          <a:prstGeom prst="rect">
            <a:avLst/>
          </a:prstGeom>
          <a:noFill/>
          <a:ln/>
        </p:spPr>
        <p:txBody>
          <a:bodyPr wrap="none" lIns="0" tIns="0" rIns="0" bIns="0" rtlCol="0" anchor="t">
            <a:spAutoFit/>
          </a:bodyPr>
          <a:lstStyle/>
          <a:p>
            <a:pPr marL="0" indent="0" algn="l">
              <a:lnSpc>
                <a:spcPct val="128000"/>
              </a:lnSpc>
              <a:buNone/>
            </a:pPr>
            <a:r>
              <a:rPr lang="en-US" sz="1150" dirty="0">
                <a:solidFill>
                  <a:srgbClr val="F4F6F8"/>
                </a:solidFill>
                <a:latin typeface="Courier New" pitchFamily="34" charset="0"/>
                <a:ea typeface="Courier New" pitchFamily="34" charset="-122"/>
                <a:cs typeface="Courier New" pitchFamily="34" charset="-120"/>
              </a:rPr>
              <a:t>GPT-4, LLaMA 3, Mistral, Claude.</a:t>
            </a:r>
            <a:endParaRPr lang="en-US" sz="1150" dirty="0"/>
          </a:p>
        </p:txBody>
      </p:sp>
      <p:sp>
        <p:nvSpPr>
          <p:cNvPr id="16" name="Shape 12"/>
          <p:cNvSpPr/>
          <p:nvPr/>
        </p:nvSpPr>
        <p:spPr>
          <a:xfrm>
            <a:off x="4857750" y="4120772"/>
            <a:ext cx="4000500" cy="735025"/>
          </a:xfrm>
          <a:prstGeom prst="rect">
            <a:avLst/>
          </a:prstGeom>
          <a:solidFill>
            <a:srgbClr val="4E148C">
              <a:alpha val="10000"/>
            </a:srgbClr>
          </a:solidFill>
          <a:ln w="9144">
            <a:solidFill>
              <a:srgbClr val="4E148C"/>
            </a:solidFill>
            <a:prstDash val="solid"/>
          </a:ln>
        </p:spPr>
        <p:txBody>
          <a:bodyPr/>
          <a:lstStyle/>
          <a:p>
            <a:endParaRPr lang="en-US"/>
          </a:p>
        </p:txBody>
      </p:sp>
      <p:sp>
        <p:nvSpPr>
          <p:cNvPr id="17" name="Text 13"/>
          <p:cNvSpPr/>
          <p:nvPr/>
        </p:nvSpPr>
        <p:spPr>
          <a:xfrm>
            <a:off x="4957763" y="4185065"/>
            <a:ext cx="3900488" cy="132159"/>
          </a:xfrm>
          <a:prstGeom prst="rect">
            <a:avLst/>
          </a:prstGeom>
          <a:noFill/>
          <a:ln/>
        </p:spPr>
        <p:txBody>
          <a:bodyPr wrap="square" lIns="0" tIns="0" rIns="0" bIns="0" rtlCol="0" anchor="t">
            <a:spAutoFit/>
          </a:bodyPr>
          <a:lstStyle/>
          <a:p>
            <a:pPr marL="0" indent="0" algn="l">
              <a:buNone/>
            </a:pPr>
            <a:r>
              <a:rPr lang="en-US" sz="800" b="1" dirty="0">
                <a:solidFill>
                  <a:srgbClr val="00A86B"/>
                </a:solidFill>
                <a:latin typeface="Inter Bold" pitchFamily="34" charset="0"/>
                <a:ea typeface="Inter Bold" pitchFamily="34" charset="-122"/>
                <a:cs typeface="Inter Bold" pitchFamily="34" charset="-120"/>
              </a:rPr>
              <a:t>PRIMARY USE</a:t>
            </a:r>
            <a:endParaRPr lang="en-US" sz="800" dirty="0"/>
          </a:p>
        </p:txBody>
      </p:sp>
      <p:sp>
        <p:nvSpPr>
          <p:cNvPr id="18" name="Text 14"/>
          <p:cNvSpPr/>
          <p:nvPr/>
        </p:nvSpPr>
        <p:spPr>
          <a:xfrm>
            <a:off x="4957763" y="4345800"/>
            <a:ext cx="3900488" cy="502853"/>
          </a:xfrm>
          <a:prstGeom prst="rect">
            <a:avLst/>
          </a:prstGeom>
          <a:noFill/>
          <a:ln/>
        </p:spPr>
        <p:txBody>
          <a:bodyPr wrap="square" lIns="0" tIns="0" rIns="0" bIns="0" rtlCol="0" anchor="t">
            <a:spAutoFit/>
          </a:bodyPr>
          <a:lstStyle/>
          <a:p>
            <a:pPr marL="0" indent="0" algn="l">
              <a:lnSpc>
                <a:spcPct val="128000"/>
              </a:lnSpc>
              <a:buNone/>
            </a:pPr>
            <a:r>
              <a:rPr lang="en-US" sz="1150" dirty="0">
                <a:solidFill>
                  <a:srgbClr val="F4F6F8"/>
                </a:solidFill>
                <a:latin typeface="Courier New" pitchFamily="34" charset="0"/>
                <a:ea typeface="Courier New" pitchFamily="34" charset="-122"/>
                <a:cs typeface="Courier New" pitchFamily="34" charset="-120"/>
              </a:rPr>
              <a:t>Text generation, coding, and creative writing.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3944" cy="1000125"/>
          </a:xfrm>
          <a:prstGeom prst="rect">
            <a:avLst/>
          </a:prstGeom>
          <a:solidFill>
            <a:srgbClr val="000000">
              <a:alpha val="0"/>
            </a:srgbClr>
          </a:solidFill>
          <a:ln/>
        </p:spPr>
        <p:txBody>
          <a:bodyPr/>
          <a:lstStyle/>
          <a:p>
            <a:endParaRPr lang="en-US"/>
          </a:p>
        </p:txBody>
      </p:sp>
      <p:sp>
        <p:nvSpPr>
          <p:cNvPr id="4" name="Shape 1"/>
          <p:cNvSpPr/>
          <p:nvPr/>
        </p:nvSpPr>
        <p:spPr>
          <a:xfrm>
            <a:off x="0" y="992981"/>
            <a:ext cx="9143944" cy="7144"/>
          </a:xfrm>
          <a:prstGeom prst="rect">
            <a:avLst/>
          </a:prstGeom>
          <a:solidFill>
            <a:srgbClr val="4E148C"/>
          </a:solidFill>
          <a:ln/>
        </p:spPr>
        <p:txBody>
          <a:bodyPr/>
          <a:lstStyle/>
          <a:p>
            <a:endParaRPr lang="en-US"/>
          </a:p>
        </p:txBody>
      </p:sp>
      <p:sp>
        <p:nvSpPr>
          <p:cNvPr id="5" name="Text 2"/>
          <p:cNvSpPr/>
          <p:nvPr/>
        </p:nvSpPr>
        <p:spPr>
          <a:xfrm>
            <a:off x="428625" y="428625"/>
            <a:ext cx="8715319" cy="438582"/>
          </a:xfrm>
          <a:prstGeom prst="rect">
            <a:avLst/>
          </a:prstGeom>
          <a:noFill/>
          <a:ln/>
        </p:spPr>
        <p:txBody>
          <a:bodyPr wrap="square" lIns="0" tIns="0" rIns="0" bIns="0" rtlCol="0" anchor="t">
            <a:spAutoFit/>
          </a:bodyPr>
          <a:lstStyle/>
          <a:p>
            <a:pPr marL="0" indent="0" algn="l">
              <a:buNone/>
            </a:pPr>
            <a:r>
              <a:rPr lang="en-US" sz="2850" b="1" kern="0" spc="-1" dirty="0">
                <a:solidFill>
                  <a:srgbClr val="00A86B"/>
                </a:solidFill>
                <a:ea typeface="Inter Black" pitchFamily="34" charset="-122"/>
                <a:cs typeface="Inter Black" pitchFamily="34" charset="-120"/>
              </a:rPr>
              <a:t>PRETRAINING: THE FOUNDATION</a:t>
            </a:r>
            <a:endParaRPr lang="en-US" sz="2850" dirty="0"/>
          </a:p>
        </p:txBody>
      </p:sp>
      <p:sp>
        <p:nvSpPr>
          <p:cNvPr id="6" name="Text 3"/>
          <p:cNvSpPr/>
          <p:nvPr/>
        </p:nvSpPr>
        <p:spPr>
          <a:xfrm>
            <a:off x="428625" y="1428750"/>
            <a:ext cx="3095588" cy="1114985"/>
          </a:xfrm>
          <a:prstGeom prst="rect">
            <a:avLst/>
          </a:prstGeom>
          <a:noFill/>
          <a:ln/>
        </p:spPr>
        <p:txBody>
          <a:bodyPr wrap="square" lIns="0" tIns="0" rIns="0" bIns="0" rtlCol="0" anchor="t">
            <a:spAutoFit/>
          </a:bodyPr>
          <a:lstStyle/>
          <a:p>
            <a:pPr marL="0" indent="0" algn="l">
              <a:lnSpc>
                <a:spcPct val="128000"/>
              </a:lnSpc>
              <a:buNone/>
            </a:pPr>
            <a:r>
              <a:rPr lang="en-US" sz="1150" dirty="0">
                <a:solidFill>
                  <a:srgbClr val="F4F6F8"/>
                </a:solidFill>
                <a:ea typeface="Courier New" pitchFamily="34" charset="-122"/>
                <a:cs typeface="Courier New" pitchFamily="34" charset="-120"/>
              </a:rPr>
              <a:t>Pretraining involves training LLMs on massive, diverse datasets using self-supervised learning. This phase provides the model with a broad understanding of language, logic, and world knowledge.</a:t>
            </a:r>
            <a:endParaRPr lang="en-US" sz="1150" dirty="0"/>
          </a:p>
        </p:txBody>
      </p:sp>
      <p:sp>
        <p:nvSpPr>
          <p:cNvPr id="7" name="Shape 4"/>
          <p:cNvSpPr/>
          <p:nvPr/>
        </p:nvSpPr>
        <p:spPr>
          <a:xfrm>
            <a:off x="428625" y="3474486"/>
            <a:ext cx="3095588" cy="292894"/>
          </a:xfrm>
          <a:prstGeom prst="rect">
            <a:avLst/>
          </a:prstGeom>
          <a:solidFill>
            <a:srgbClr val="4E148C"/>
          </a:solidFill>
          <a:ln/>
        </p:spPr>
        <p:txBody>
          <a:bodyPr/>
          <a:lstStyle/>
          <a:p>
            <a:endParaRPr lang="en-US"/>
          </a:p>
        </p:txBody>
      </p:sp>
      <p:sp>
        <p:nvSpPr>
          <p:cNvPr id="8" name="Text 5"/>
          <p:cNvSpPr/>
          <p:nvPr/>
        </p:nvSpPr>
        <p:spPr>
          <a:xfrm>
            <a:off x="571500" y="3617361"/>
            <a:ext cx="2809838" cy="138499"/>
          </a:xfrm>
          <a:prstGeom prst="rect">
            <a:avLst/>
          </a:prstGeom>
          <a:noFill/>
          <a:ln/>
        </p:spPr>
        <p:txBody>
          <a:bodyPr wrap="square" lIns="0" tIns="0" rIns="0" bIns="0" rtlCol="0" anchor="t">
            <a:spAutoFit/>
          </a:bodyPr>
          <a:lstStyle/>
          <a:p>
            <a:pPr marL="0" indent="0" algn="l">
              <a:buNone/>
            </a:pPr>
            <a:r>
              <a:rPr lang="en-US" sz="900" b="1" kern="0" spc="1" dirty="0">
                <a:solidFill>
                  <a:srgbClr val="F4F6F8"/>
                </a:solidFill>
                <a:ea typeface="Inter Bold" pitchFamily="34" charset="-122"/>
                <a:cs typeface="Inter Bold" pitchFamily="34" charset="-120"/>
              </a:rPr>
              <a:t>LEARNING FROM PETABYTES OF DATA</a:t>
            </a:r>
            <a:endParaRPr lang="en-US" sz="900" dirty="0"/>
          </a:p>
        </p:txBody>
      </p:sp>
      <p:sp>
        <p:nvSpPr>
          <p:cNvPr id="9" name="Text 6"/>
          <p:cNvSpPr/>
          <p:nvPr/>
        </p:nvSpPr>
        <p:spPr>
          <a:xfrm>
            <a:off x="428625" y="3981692"/>
            <a:ext cx="3095588" cy="232115"/>
          </a:xfrm>
          <a:prstGeom prst="rect">
            <a:avLst/>
          </a:prstGeom>
          <a:noFill/>
          <a:ln/>
        </p:spPr>
        <p:txBody>
          <a:bodyPr wrap="square" lIns="0" tIns="85090" rIns="0" bIns="0" rtlCol="0" anchor="t">
            <a:spAutoFit/>
          </a:bodyPr>
          <a:lstStyle/>
          <a:p>
            <a:pPr marL="0" indent="0" algn="l">
              <a:buNone/>
            </a:pPr>
            <a:r>
              <a:rPr lang="en-US" sz="950" dirty="0">
                <a:solidFill>
                  <a:srgbClr val="00A86B"/>
                </a:solidFill>
                <a:ea typeface="Courier New" pitchFamily="34" charset="-122"/>
                <a:cs typeface="Courier New" pitchFamily="34" charset="-120"/>
              </a:rPr>
              <a:t>&gt; Self-Supervised Learning</a:t>
            </a:r>
            <a:endParaRPr lang="en-US" sz="950" dirty="0"/>
          </a:p>
        </p:txBody>
      </p:sp>
      <p:sp>
        <p:nvSpPr>
          <p:cNvPr id="10" name="Text 7"/>
          <p:cNvSpPr/>
          <p:nvPr/>
        </p:nvSpPr>
        <p:spPr>
          <a:xfrm>
            <a:off x="428625" y="4199576"/>
            <a:ext cx="3095588" cy="232115"/>
          </a:xfrm>
          <a:prstGeom prst="rect">
            <a:avLst/>
          </a:prstGeom>
          <a:noFill/>
          <a:ln/>
        </p:spPr>
        <p:txBody>
          <a:bodyPr wrap="square" lIns="0" tIns="85090" rIns="0" bIns="0" rtlCol="0" anchor="t">
            <a:spAutoFit/>
          </a:bodyPr>
          <a:lstStyle/>
          <a:p>
            <a:pPr marL="0" indent="0" algn="l">
              <a:buNone/>
            </a:pPr>
            <a:r>
              <a:rPr lang="en-US" sz="950" dirty="0">
                <a:solidFill>
                  <a:srgbClr val="00A86B"/>
                </a:solidFill>
                <a:ea typeface="Courier New" pitchFamily="34" charset="-122"/>
                <a:cs typeface="Courier New" pitchFamily="34" charset="-120"/>
              </a:rPr>
              <a:t>&gt; Next Token Prediction</a:t>
            </a:r>
            <a:endParaRPr lang="en-US" sz="950" dirty="0"/>
          </a:p>
        </p:txBody>
      </p:sp>
      <p:sp>
        <p:nvSpPr>
          <p:cNvPr id="11" name="Text 8"/>
          <p:cNvSpPr/>
          <p:nvPr/>
        </p:nvSpPr>
        <p:spPr>
          <a:xfrm>
            <a:off x="428625" y="4417461"/>
            <a:ext cx="3095588" cy="232115"/>
          </a:xfrm>
          <a:prstGeom prst="rect">
            <a:avLst/>
          </a:prstGeom>
          <a:noFill/>
          <a:ln/>
        </p:spPr>
        <p:txBody>
          <a:bodyPr wrap="square" lIns="0" tIns="85090" rIns="0" bIns="0" rtlCol="0" anchor="t">
            <a:spAutoFit/>
          </a:bodyPr>
          <a:lstStyle/>
          <a:p>
            <a:pPr marL="0" indent="0" algn="l">
              <a:buNone/>
            </a:pPr>
            <a:r>
              <a:rPr lang="en-US" sz="950" dirty="0">
                <a:solidFill>
                  <a:srgbClr val="00A86B"/>
                </a:solidFill>
                <a:ea typeface="Courier New" pitchFamily="34" charset="-122"/>
                <a:cs typeface="Courier New" pitchFamily="34" charset="-120"/>
              </a:rPr>
              <a:t>&gt; Foundational Knowledge</a:t>
            </a:r>
            <a:endParaRPr lang="en-US" sz="950" dirty="0"/>
          </a:p>
        </p:txBody>
      </p:sp>
      <p:pic>
        <p:nvPicPr>
          <p:cNvPr id="12" name="Image 1" descr="preencoded.png"/>
          <p:cNvPicPr>
            <a:picLocks noChangeAspect="1"/>
          </p:cNvPicPr>
          <p:nvPr/>
        </p:nvPicPr>
        <p:blipFill>
          <a:blip r:embed="rId4"/>
          <a:stretch>
            <a:fillRect/>
          </a:stretch>
        </p:blipFill>
        <p:spPr>
          <a:xfrm>
            <a:off x="3833738" y="1464469"/>
            <a:ext cx="4857750" cy="32146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000125"/>
          </a:xfrm>
          <a:prstGeom prst="rect">
            <a:avLst/>
          </a:prstGeom>
          <a:solidFill>
            <a:srgbClr val="000000">
              <a:alpha val="0"/>
            </a:srgbClr>
          </a:solidFill>
          <a:ln/>
        </p:spPr>
        <p:txBody>
          <a:bodyPr/>
          <a:lstStyle/>
          <a:p>
            <a:endParaRPr lang="en-US"/>
          </a:p>
        </p:txBody>
      </p:sp>
      <p:sp>
        <p:nvSpPr>
          <p:cNvPr id="4" name="Shape 1"/>
          <p:cNvSpPr/>
          <p:nvPr/>
        </p:nvSpPr>
        <p:spPr>
          <a:xfrm>
            <a:off x="0" y="992981"/>
            <a:ext cx="9144000" cy="7144"/>
          </a:xfrm>
          <a:prstGeom prst="rect">
            <a:avLst/>
          </a:prstGeom>
          <a:solidFill>
            <a:srgbClr val="4E148C"/>
          </a:solidFill>
          <a:ln/>
        </p:spPr>
        <p:txBody>
          <a:bodyPr/>
          <a:lstStyle/>
          <a:p>
            <a:endParaRPr lang="en-US"/>
          </a:p>
        </p:txBody>
      </p:sp>
      <p:sp>
        <p:nvSpPr>
          <p:cNvPr id="5" name="Text 2"/>
          <p:cNvSpPr/>
          <p:nvPr/>
        </p:nvSpPr>
        <p:spPr>
          <a:xfrm>
            <a:off x="428625" y="428625"/>
            <a:ext cx="8715375" cy="438582"/>
          </a:xfrm>
          <a:prstGeom prst="rect">
            <a:avLst/>
          </a:prstGeom>
          <a:noFill/>
          <a:ln/>
        </p:spPr>
        <p:txBody>
          <a:bodyPr wrap="square" lIns="0" tIns="0" rIns="0" bIns="0" rtlCol="0" anchor="t">
            <a:spAutoFit/>
          </a:bodyPr>
          <a:lstStyle/>
          <a:p>
            <a:pPr marL="0" indent="0" algn="l">
              <a:buNone/>
            </a:pPr>
            <a:r>
              <a:rPr lang="en-US" sz="2850" b="1" kern="0" spc="-1" dirty="0">
                <a:solidFill>
                  <a:srgbClr val="00A86B"/>
                </a:solidFill>
                <a:ea typeface="Inter Black" pitchFamily="34" charset="-122"/>
                <a:cs typeface="Inter Black" pitchFamily="34" charset="-120"/>
              </a:rPr>
              <a:t>FINE-TUNING: TASK SPECIALIZATION</a:t>
            </a:r>
            <a:endParaRPr lang="en-US" sz="2850" dirty="0"/>
          </a:p>
        </p:txBody>
      </p:sp>
      <p:sp>
        <p:nvSpPr>
          <p:cNvPr id="6" name="Text 3"/>
          <p:cNvSpPr/>
          <p:nvPr/>
        </p:nvSpPr>
        <p:spPr>
          <a:xfrm>
            <a:off x="428625" y="1428750"/>
            <a:ext cx="3857625" cy="888448"/>
          </a:xfrm>
          <a:prstGeom prst="rect">
            <a:avLst/>
          </a:prstGeom>
          <a:noFill/>
          <a:ln/>
        </p:spPr>
        <p:txBody>
          <a:bodyPr wrap="square" lIns="0" tIns="0" rIns="0" bIns="0" rtlCol="0" anchor="t">
            <a:spAutoFit/>
          </a:bodyPr>
          <a:lstStyle/>
          <a:p>
            <a:pPr marL="0" indent="0" algn="l">
              <a:lnSpc>
                <a:spcPct val="128000"/>
              </a:lnSpc>
              <a:buNone/>
            </a:pPr>
            <a:r>
              <a:rPr lang="en-US" sz="1150" dirty="0">
                <a:solidFill>
                  <a:srgbClr val="F4F6F8"/>
                </a:solidFill>
                <a:ea typeface="Courier New" pitchFamily="34" charset="-122"/>
                <a:cs typeface="Courier New" pitchFamily="34" charset="-120"/>
              </a:rPr>
              <a:t>After pretraining, models are fine-tuned on smaller, task-specific datasets with labeled examples. This process adapts the general language understanding to perform specific downstream tasks with high precision.</a:t>
            </a:r>
            <a:endParaRPr lang="en-US" sz="1150" dirty="0"/>
          </a:p>
        </p:txBody>
      </p:sp>
      <p:sp>
        <p:nvSpPr>
          <p:cNvPr id="7" name="Shape 4"/>
          <p:cNvSpPr/>
          <p:nvPr/>
        </p:nvSpPr>
        <p:spPr>
          <a:xfrm>
            <a:off x="428625" y="3223059"/>
            <a:ext cx="3857625" cy="457200"/>
          </a:xfrm>
          <a:prstGeom prst="rect">
            <a:avLst/>
          </a:prstGeom>
          <a:solidFill>
            <a:srgbClr val="4E148C"/>
          </a:solidFill>
          <a:ln w="9144">
            <a:solidFill>
              <a:srgbClr val="00A86B"/>
            </a:solidFill>
            <a:prstDash val="solid"/>
          </a:ln>
        </p:spPr>
        <p:txBody>
          <a:bodyPr/>
          <a:lstStyle/>
          <a:p>
            <a:endParaRPr lang="en-US"/>
          </a:p>
        </p:txBody>
      </p:sp>
      <p:sp>
        <p:nvSpPr>
          <p:cNvPr id="8" name="Text 5"/>
          <p:cNvSpPr/>
          <p:nvPr/>
        </p:nvSpPr>
        <p:spPr>
          <a:xfrm>
            <a:off x="571500" y="3365934"/>
            <a:ext cx="3571875" cy="138499"/>
          </a:xfrm>
          <a:prstGeom prst="rect">
            <a:avLst/>
          </a:prstGeom>
          <a:noFill/>
          <a:ln/>
        </p:spPr>
        <p:txBody>
          <a:bodyPr wrap="square" lIns="0" tIns="0" rIns="0" bIns="0" rtlCol="0" anchor="t">
            <a:spAutoFit/>
          </a:bodyPr>
          <a:lstStyle/>
          <a:p>
            <a:pPr marL="0" indent="0" algn="l">
              <a:buNone/>
            </a:pPr>
            <a:r>
              <a:rPr lang="en-US" sz="900" b="1" kern="0" spc="1" dirty="0">
                <a:solidFill>
                  <a:srgbClr val="F4F6F8"/>
                </a:solidFill>
                <a:ea typeface="Inter Bold" pitchFamily="34" charset="-122"/>
                <a:cs typeface="Inter Bold" pitchFamily="34" charset="-120"/>
              </a:rPr>
              <a:t>ADAPTING GENERAL KNOWLEDGE TO SPECIFIC NEEDS</a:t>
            </a:r>
            <a:endParaRPr lang="en-US" sz="900" dirty="0"/>
          </a:p>
        </p:txBody>
      </p:sp>
      <p:sp>
        <p:nvSpPr>
          <p:cNvPr id="9" name="Text 6"/>
          <p:cNvSpPr/>
          <p:nvPr/>
        </p:nvSpPr>
        <p:spPr>
          <a:xfrm>
            <a:off x="428625" y="3880284"/>
            <a:ext cx="3857625" cy="232115"/>
          </a:xfrm>
          <a:prstGeom prst="rect">
            <a:avLst/>
          </a:prstGeom>
          <a:noFill/>
          <a:ln/>
        </p:spPr>
        <p:txBody>
          <a:bodyPr wrap="square" lIns="0" tIns="85090" rIns="0" bIns="0" rtlCol="0" anchor="t">
            <a:spAutoFit/>
          </a:bodyPr>
          <a:lstStyle/>
          <a:p>
            <a:pPr marL="0" indent="0" algn="l">
              <a:buNone/>
            </a:pPr>
            <a:r>
              <a:rPr lang="en-US" sz="950" dirty="0">
                <a:solidFill>
                  <a:srgbClr val="00A86B"/>
                </a:solidFill>
                <a:ea typeface="Courier New" pitchFamily="34" charset="-122"/>
                <a:cs typeface="Courier New" pitchFamily="34" charset="-120"/>
              </a:rPr>
              <a:t>&gt; Supervised Learning</a:t>
            </a:r>
            <a:endParaRPr lang="en-US" sz="950" dirty="0"/>
          </a:p>
        </p:txBody>
      </p:sp>
      <p:sp>
        <p:nvSpPr>
          <p:cNvPr id="10" name="Text 7"/>
          <p:cNvSpPr/>
          <p:nvPr/>
        </p:nvSpPr>
        <p:spPr>
          <a:xfrm>
            <a:off x="428625" y="4098168"/>
            <a:ext cx="3857625" cy="232115"/>
          </a:xfrm>
          <a:prstGeom prst="rect">
            <a:avLst/>
          </a:prstGeom>
          <a:noFill/>
          <a:ln/>
        </p:spPr>
        <p:txBody>
          <a:bodyPr wrap="square" lIns="0" tIns="85090" rIns="0" bIns="0" rtlCol="0" anchor="t">
            <a:spAutoFit/>
          </a:bodyPr>
          <a:lstStyle/>
          <a:p>
            <a:pPr marL="0" indent="0" algn="l">
              <a:buNone/>
            </a:pPr>
            <a:r>
              <a:rPr lang="en-US" sz="950" dirty="0">
                <a:solidFill>
                  <a:srgbClr val="00A86B"/>
                </a:solidFill>
                <a:ea typeface="Courier New" pitchFamily="34" charset="-122"/>
                <a:cs typeface="Courier New" pitchFamily="34" charset="-120"/>
              </a:rPr>
              <a:t>&gt; Domain Adaptation</a:t>
            </a:r>
            <a:endParaRPr lang="en-US" sz="950" dirty="0"/>
          </a:p>
        </p:txBody>
      </p:sp>
      <p:sp>
        <p:nvSpPr>
          <p:cNvPr id="11" name="Text 8"/>
          <p:cNvSpPr/>
          <p:nvPr/>
        </p:nvSpPr>
        <p:spPr>
          <a:xfrm>
            <a:off x="428625" y="4316053"/>
            <a:ext cx="3857625" cy="232115"/>
          </a:xfrm>
          <a:prstGeom prst="rect">
            <a:avLst/>
          </a:prstGeom>
          <a:noFill/>
          <a:ln/>
        </p:spPr>
        <p:txBody>
          <a:bodyPr wrap="square" lIns="0" tIns="85090" rIns="0" bIns="0" rtlCol="0" anchor="t">
            <a:spAutoFit/>
          </a:bodyPr>
          <a:lstStyle/>
          <a:p>
            <a:pPr marL="0" indent="0" algn="l">
              <a:buNone/>
            </a:pPr>
            <a:r>
              <a:rPr lang="en-US" sz="950" dirty="0">
                <a:solidFill>
                  <a:srgbClr val="00A86B"/>
                </a:solidFill>
                <a:ea typeface="Courier New" pitchFamily="34" charset="-122"/>
                <a:cs typeface="Courier New" pitchFamily="34" charset="-120"/>
              </a:rPr>
              <a:t>&gt; High Precision Output</a:t>
            </a:r>
            <a:endParaRPr lang="en-US" sz="950" dirty="0"/>
          </a:p>
        </p:txBody>
      </p:sp>
      <p:pic>
        <p:nvPicPr>
          <p:cNvPr id="12" name="Image 1" descr="preencoded.png"/>
          <p:cNvPicPr>
            <a:picLocks noChangeAspect="1"/>
          </p:cNvPicPr>
          <p:nvPr/>
        </p:nvPicPr>
        <p:blipFill>
          <a:blip r:embed="rId4"/>
          <a:stretch>
            <a:fillRect/>
          </a:stretch>
        </p:blipFill>
        <p:spPr>
          <a:xfrm>
            <a:off x="4572000" y="1643063"/>
            <a:ext cx="4143375" cy="2857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000125"/>
          </a:xfrm>
          <a:prstGeom prst="rect">
            <a:avLst/>
          </a:prstGeom>
          <a:solidFill>
            <a:srgbClr val="000000">
              <a:alpha val="0"/>
            </a:srgbClr>
          </a:solidFill>
          <a:ln/>
        </p:spPr>
        <p:txBody>
          <a:bodyPr/>
          <a:lstStyle/>
          <a:p>
            <a:endParaRPr lang="en-US"/>
          </a:p>
        </p:txBody>
      </p:sp>
      <p:sp>
        <p:nvSpPr>
          <p:cNvPr id="4" name="Shape 1"/>
          <p:cNvSpPr/>
          <p:nvPr/>
        </p:nvSpPr>
        <p:spPr>
          <a:xfrm>
            <a:off x="0" y="992981"/>
            <a:ext cx="9144000" cy="7144"/>
          </a:xfrm>
          <a:prstGeom prst="rect">
            <a:avLst/>
          </a:prstGeom>
          <a:solidFill>
            <a:srgbClr val="4E148C"/>
          </a:solidFill>
          <a:ln/>
        </p:spPr>
        <p:txBody>
          <a:bodyPr/>
          <a:lstStyle/>
          <a:p>
            <a:endParaRPr lang="en-US"/>
          </a:p>
        </p:txBody>
      </p:sp>
      <p:sp>
        <p:nvSpPr>
          <p:cNvPr id="5" name="Text 2"/>
          <p:cNvSpPr/>
          <p:nvPr/>
        </p:nvSpPr>
        <p:spPr>
          <a:xfrm>
            <a:off x="428625" y="428625"/>
            <a:ext cx="8715375" cy="460772"/>
          </a:xfrm>
          <a:prstGeom prst="rect">
            <a:avLst/>
          </a:prstGeom>
          <a:noFill/>
          <a:ln/>
        </p:spPr>
        <p:txBody>
          <a:bodyPr wrap="square" lIns="0" tIns="0" rIns="0" bIns="0" rtlCol="0" anchor="t">
            <a:spAutoFit/>
          </a:bodyPr>
          <a:lstStyle/>
          <a:p>
            <a:pPr marL="0" indent="0" algn="l">
              <a:buNone/>
            </a:pPr>
            <a:r>
              <a:rPr lang="en-US" sz="2850" b="1" kern="0" spc="-1" dirty="0">
                <a:solidFill>
                  <a:srgbClr val="00A86B"/>
                </a:solidFill>
                <a:latin typeface="Inter Black" pitchFamily="34" charset="0"/>
                <a:ea typeface="Inter Black" pitchFamily="34" charset="-122"/>
                <a:cs typeface="Inter Black" pitchFamily="34" charset="-120"/>
              </a:rPr>
              <a:t>INSTRUCTION TUNING</a:t>
            </a:r>
            <a:endParaRPr lang="en-US" sz="2850" dirty="0"/>
          </a:p>
        </p:txBody>
      </p:sp>
      <p:sp>
        <p:nvSpPr>
          <p:cNvPr id="6" name="Shape 3"/>
          <p:cNvSpPr/>
          <p:nvPr/>
        </p:nvSpPr>
        <p:spPr>
          <a:xfrm>
            <a:off x="0" y="1000125"/>
            <a:ext cx="4572000" cy="4143375"/>
          </a:xfrm>
          <a:prstGeom prst="rect">
            <a:avLst/>
          </a:prstGeom>
          <a:solidFill>
            <a:srgbClr val="000000">
              <a:alpha val="0"/>
            </a:srgbClr>
          </a:solidFill>
          <a:ln/>
        </p:spPr>
        <p:txBody>
          <a:bodyPr/>
          <a:lstStyle/>
          <a:p>
            <a:endParaRPr lang="en-US"/>
          </a:p>
        </p:txBody>
      </p:sp>
      <p:sp>
        <p:nvSpPr>
          <p:cNvPr id="7" name="Shape 4"/>
          <p:cNvSpPr/>
          <p:nvPr/>
        </p:nvSpPr>
        <p:spPr>
          <a:xfrm>
            <a:off x="4564856" y="1000125"/>
            <a:ext cx="7144" cy="4143375"/>
          </a:xfrm>
          <a:prstGeom prst="rect">
            <a:avLst/>
          </a:prstGeom>
          <a:solidFill>
            <a:srgbClr val="4E148C"/>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214313" y="1643063"/>
            <a:ext cx="4143375" cy="2857500"/>
          </a:xfrm>
          <a:prstGeom prst="rect">
            <a:avLst/>
          </a:prstGeom>
        </p:spPr>
      </p:pic>
      <p:sp>
        <p:nvSpPr>
          <p:cNvPr id="9" name="Text 5"/>
          <p:cNvSpPr/>
          <p:nvPr/>
        </p:nvSpPr>
        <p:spPr>
          <a:xfrm>
            <a:off x="5000625" y="1428750"/>
            <a:ext cx="3714750" cy="1257133"/>
          </a:xfrm>
          <a:prstGeom prst="rect">
            <a:avLst/>
          </a:prstGeom>
          <a:noFill/>
          <a:ln/>
        </p:spPr>
        <p:txBody>
          <a:bodyPr wrap="square" lIns="0" tIns="0" rIns="0" bIns="0" rtlCol="0" anchor="t">
            <a:spAutoFit/>
          </a:bodyPr>
          <a:lstStyle/>
          <a:p>
            <a:pPr marL="0" indent="0" algn="l">
              <a:lnSpc>
                <a:spcPct val="128000"/>
              </a:lnSpc>
              <a:buNone/>
            </a:pPr>
            <a:r>
              <a:rPr lang="en-US" sz="1150" dirty="0">
                <a:solidFill>
                  <a:srgbClr val="F4F6F8"/>
                </a:solidFill>
                <a:latin typeface="Courier New" pitchFamily="34" charset="0"/>
                <a:ea typeface="Courier New" pitchFamily="34" charset="-122"/>
                <a:cs typeface="Courier New" pitchFamily="34" charset="-120"/>
              </a:rPr>
              <a:t>Instruction tuning refines LLMs to follow human commands and behave as helpful assistants. This phase bridges the gap between raw knowledge and practical utility.</a:t>
            </a:r>
            <a:endParaRPr lang="en-US" sz="1150" dirty="0"/>
          </a:p>
        </p:txBody>
      </p:sp>
      <p:sp>
        <p:nvSpPr>
          <p:cNvPr id="10" name="Text 6"/>
          <p:cNvSpPr/>
          <p:nvPr/>
        </p:nvSpPr>
        <p:spPr>
          <a:xfrm>
            <a:off x="5000625" y="2900195"/>
            <a:ext cx="3714750" cy="146447"/>
          </a:xfrm>
          <a:prstGeom prst="rect">
            <a:avLst/>
          </a:prstGeom>
          <a:noFill/>
          <a:ln/>
        </p:spPr>
        <p:txBody>
          <a:bodyPr wrap="square" lIns="170053" tIns="0" rIns="0" bIns="0" rtlCol="0" anchor="t">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Supervised Fine-Tuning (SFT)</a:t>
            </a:r>
            <a:endParaRPr lang="en-US" sz="950" dirty="0"/>
          </a:p>
        </p:txBody>
      </p:sp>
      <p:sp>
        <p:nvSpPr>
          <p:cNvPr id="11" name="Text 7"/>
          <p:cNvSpPr/>
          <p:nvPr/>
        </p:nvSpPr>
        <p:spPr>
          <a:xfrm>
            <a:off x="5000625" y="3153798"/>
            <a:ext cx="3714750" cy="292894"/>
          </a:xfrm>
          <a:prstGeom prst="rect">
            <a:avLst/>
          </a:prstGeom>
          <a:noFill/>
          <a:ln/>
        </p:spPr>
        <p:txBody>
          <a:bodyPr wrap="square" lIns="170053" tIns="0" rIns="0" bIns="0" rtlCol="0" anchor="t">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Reinforcement Learning from Human Feedback (RLHF)</a:t>
            </a:r>
            <a:endParaRPr lang="en-US" sz="950" dirty="0"/>
          </a:p>
        </p:txBody>
      </p:sp>
      <p:sp>
        <p:nvSpPr>
          <p:cNvPr id="12" name="Text 8"/>
          <p:cNvSpPr/>
          <p:nvPr/>
        </p:nvSpPr>
        <p:spPr>
          <a:xfrm>
            <a:off x="5000625" y="3553848"/>
            <a:ext cx="3714750" cy="146447"/>
          </a:xfrm>
          <a:prstGeom prst="rect">
            <a:avLst/>
          </a:prstGeom>
          <a:noFill/>
          <a:ln/>
        </p:spPr>
        <p:txBody>
          <a:bodyPr wrap="square" lIns="170053" tIns="0" rIns="0" bIns="0" rtlCol="0" anchor="t">
            <a:spAutoFit/>
          </a:bodyPr>
          <a:lstStyle/>
          <a:p>
            <a:pPr marL="0" indent="0" algn="l">
              <a:buNone/>
            </a:pPr>
            <a:r>
              <a:rPr lang="en-US" sz="950" dirty="0">
                <a:solidFill>
                  <a:srgbClr val="F4F6F8"/>
                </a:solidFill>
                <a:latin typeface="Courier New" pitchFamily="34" charset="0"/>
                <a:ea typeface="Courier New" pitchFamily="34" charset="-122"/>
                <a:cs typeface="Courier New" pitchFamily="34" charset="-120"/>
              </a:rPr>
              <a:t>Direct Preference Optimization (DPO)</a:t>
            </a:r>
            <a:endParaRPr lang="en-US" sz="950" dirty="0"/>
          </a:p>
        </p:txBody>
      </p:sp>
      <p:sp>
        <p:nvSpPr>
          <p:cNvPr id="13" name="Shape 9"/>
          <p:cNvSpPr/>
          <p:nvPr/>
        </p:nvSpPr>
        <p:spPr>
          <a:xfrm>
            <a:off x="5000625" y="3986045"/>
            <a:ext cx="3714750" cy="307181"/>
          </a:xfrm>
          <a:prstGeom prst="rect">
            <a:avLst/>
          </a:prstGeom>
          <a:solidFill>
            <a:srgbClr val="00A86B"/>
          </a:solidFill>
          <a:ln w="9144">
            <a:solidFill>
              <a:srgbClr val="F4F6F8"/>
            </a:solidFill>
            <a:prstDash val="solid"/>
          </a:ln>
        </p:spPr>
        <p:txBody>
          <a:bodyPr/>
          <a:lstStyle/>
          <a:p>
            <a:endParaRPr lang="en-US"/>
          </a:p>
        </p:txBody>
      </p:sp>
      <p:sp>
        <p:nvSpPr>
          <p:cNvPr id="14" name="Text 10"/>
          <p:cNvSpPr/>
          <p:nvPr/>
        </p:nvSpPr>
        <p:spPr>
          <a:xfrm>
            <a:off x="5143500" y="4128920"/>
            <a:ext cx="3429000" cy="150019"/>
          </a:xfrm>
          <a:prstGeom prst="rect">
            <a:avLst/>
          </a:prstGeom>
          <a:noFill/>
          <a:ln/>
        </p:spPr>
        <p:txBody>
          <a:bodyPr wrap="square" lIns="0" tIns="0" rIns="0" bIns="0" rtlCol="0" anchor="t">
            <a:spAutoFit/>
          </a:bodyPr>
          <a:lstStyle/>
          <a:p>
            <a:pPr marL="0" indent="0" algn="l">
              <a:buNone/>
            </a:pPr>
            <a:r>
              <a:rPr lang="en-US" sz="900" b="1" kern="0" spc="1" dirty="0">
                <a:solidFill>
                  <a:srgbClr val="0A192F"/>
                </a:solidFill>
                <a:latin typeface="Inter Black" pitchFamily="34" charset="0"/>
                <a:ea typeface="Inter Black" pitchFamily="34" charset="-122"/>
                <a:cs typeface="Inter Black" pitchFamily="34" charset="-120"/>
              </a:rPr>
              <a:t>GOAL: HELPFUL, HARMLESS, &amp; HONEST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3944" cy="1000125"/>
          </a:xfrm>
          <a:prstGeom prst="rect">
            <a:avLst/>
          </a:prstGeom>
          <a:solidFill>
            <a:srgbClr val="000000">
              <a:alpha val="0"/>
            </a:srgbClr>
          </a:solidFill>
          <a:ln/>
        </p:spPr>
        <p:txBody>
          <a:bodyPr/>
          <a:lstStyle/>
          <a:p>
            <a:endParaRPr lang="en-US"/>
          </a:p>
        </p:txBody>
      </p:sp>
      <p:sp>
        <p:nvSpPr>
          <p:cNvPr id="4" name="Shape 1"/>
          <p:cNvSpPr/>
          <p:nvPr/>
        </p:nvSpPr>
        <p:spPr>
          <a:xfrm>
            <a:off x="0" y="992981"/>
            <a:ext cx="9143944" cy="7144"/>
          </a:xfrm>
          <a:prstGeom prst="rect">
            <a:avLst/>
          </a:prstGeom>
          <a:solidFill>
            <a:srgbClr val="4E148C"/>
          </a:solidFill>
          <a:ln/>
        </p:spPr>
        <p:txBody>
          <a:bodyPr/>
          <a:lstStyle/>
          <a:p>
            <a:endParaRPr lang="en-US"/>
          </a:p>
        </p:txBody>
      </p:sp>
      <p:sp>
        <p:nvSpPr>
          <p:cNvPr id="5" name="Text 2"/>
          <p:cNvSpPr/>
          <p:nvPr/>
        </p:nvSpPr>
        <p:spPr>
          <a:xfrm>
            <a:off x="428625" y="428625"/>
            <a:ext cx="8715319" cy="460772"/>
          </a:xfrm>
          <a:prstGeom prst="rect">
            <a:avLst/>
          </a:prstGeom>
          <a:noFill/>
          <a:ln/>
        </p:spPr>
        <p:txBody>
          <a:bodyPr wrap="square" lIns="0" tIns="0" rIns="0" bIns="0" rtlCol="0" anchor="t">
            <a:spAutoFit/>
          </a:bodyPr>
          <a:lstStyle/>
          <a:p>
            <a:pPr marL="0" indent="0" algn="l">
              <a:buNone/>
            </a:pPr>
            <a:r>
              <a:rPr lang="en-US" sz="2850" b="1" kern="0" spc="-1" dirty="0">
                <a:solidFill>
                  <a:srgbClr val="00A86B"/>
                </a:solidFill>
                <a:latin typeface="Inter Black" pitchFamily="34" charset="0"/>
                <a:ea typeface="Inter Black" pitchFamily="34" charset="-122"/>
                <a:cs typeface="Inter Black" pitchFamily="34" charset="-120"/>
              </a:rPr>
              <a:t>REAL-WORLD USE CASES</a:t>
            </a:r>
            <a:endParaRPr lang="en-US" sz="2850" dirty="0"/>
          </a:p>
        </p:txBody>
      </p:sp>
      <p:sp>
        <p:nvSpPr>
          <p:cNvPr id="6" name="Text 3"/>
          <p:cNvSpPr/>
          <p:nvPr/>
        </p:nvSpPr>
        <p:spPr>
          <a:xfrm>
            <a:off x="428625" y="1428750"/>
            <a:ext cx="3095588" cy="914400"/>
          </a:xfrm>
          <a:prstGeom prst="rect">
            <a:avLst/>
          </a:prstGeom>
          <a:noFill/>
          <a:ln/>
        </p:spPr>
        <p:txBody>
          <a:bodyPr wrap="square" lIns="0" tIns="0" rIns="0" bIns="0" rtlCol="0" anchor="t">
            <a:spAutoFit/>
          </a:bodyPr>
          <a:lstStyle/>
          <a:p>
            <a:pPr marL="0" indent="0" algn="l">
              <a:lnSpc>
                <a:spcPct val="128000"/>
              </a:lnSpc>
              <a:buNone/>
            </a:pPr>
            <a:r>
              <a:rPr lang="en-US" sz="1050" dirty="0">
                <a:solidFill>
                  <a:srgbClr val="F4F6F8"/>
                </a:solidFill>
                <a:latin typeface="Courier New" pitchFamily="34" charset="0"/>
                <a:ea typeface="Courier New" pitchFamily="34" charset="-122"/>
                <a:cs typeface="Courier New" pitchFamily="34" charset="-120"/>
              </a:rPr>
              <a:t>LLMs are transforming industries by automating complex tasks and enhancing human creativity across various domains.</a:t>
            </a:r>
            <a:endParaRPr lang="en-US" sz="1050" dirty="0"/>
          </a:p>
        </p:txBody>
      </p:sp>
      <p:sp>
        <p:nvSpPr>
          <p:cNvPr id="7" name="Shape 4"/>
          <p:cNvSpPr/>
          <p:nvPr/>
        </p:nvSpPr>
        <p:spPr>
          <a:xfrm>
            <a:off x="428625" y="2557463"/>
            <a:ext cx="3095588" cy="364331"/>
          </a:xfrm>
          <a:prstGeom prst="rect">
            <a:avLst/>
          </a:prstGeom>
          <a:solidFill>
            <a:srgbClr val="4E148C">
              <a:alpha val="10000"/>
            </a:srgbClr>
          </a:solidFill>
          <a:ln w="9144">
            <a:solidFill>
              <a:srgbClr val="4E148C"/>
            </a:solidFill>
            <a:prstDash val="solid"/>
          </a:ln>
        </p:spPr>
        <p:txBody>
          <a:bodyPr/>
          <a:lstStyle/>
          <a:p>
            <a:endParaRPr lang="en-US"/>
          </a:p>
        </p:txBody>
      </p:sp>
      <p:sp>
        <p:nvSpPr>
          <p:cNvPr id="8" name="Text 5"/>
          <p:cNvSpPr/>
          <p:nvPr/>
        </p:nvSpPr>
        <p:spPr>
          <a:xfrm>
            <a:off x="571500" y="2664619"/>
            <a:ext cx="2952713" cy="132159"/>
          </a:xfrm>
          <a:prstGeom prst="rect">
            <a:avLst/>
          </a:prstGeom>
          <a:noFill/>
          <a:ln/>
        </p:spPr>
        <p:txBody>
          <a:bodyPr wrap="square" lIns="0" tIns="0" rIns="0" bIns="0" rtlCol="0" anchor="t">
            <a:spAutoFit/>
          </a:bodyPr>
          <a:lstStyle/>
          <a:p>
            <a:pPr marL="0" indent="0" algn="l">
              <a:buNone/>
            </a:pPr>
            <a:r>
              <a:rPr lang="en-US" sz="800" b="1" dirty="0">
                <a:solidFill>
                  <a:srgbClr val="00A86B"/>
                </a:solidFill>
                <a:latin typeface="Courier New" pitchFamily="34" charset="0"/>
                <a:ea typeface="Courier New" pitchFamily="34" charset="-122"/>
                <a:cs typeface="Courier New" pitchFamily="34" charset="-120"/>
              </a:rPr>
              <a:t>HEALTHCARE</a:t>
            </a:r>
            <a:endParaRPr lang="en-US" sz="800" dirty="0"/>
          </a:p>
        </p:txBody>
      </p:sp>
      <p:sp>
        <p:nvSpPr>
          <p:cNvPr id="9" name="Text 6"/>
          <p:cNvSpPr/>
          <p:nvPr/>
        </p:nvSpPr>
        <p:spPr>
          <a:xfrm>
            <a:off x="571500" y="2796778"/>
            <a:ext cx="2952713" cy="110728"/>
          </a:xfrm>
          <a:prstGeom prst="rect">
            <a:avLst/>
          </a:prstGeom>
          <a:noFill/>
          <a:ln/>
        </p:spPr>
        <p:txBody>
          <a:bodyPr wrap="square" lIns="0" tIns="0" rIns="0" bIns="0" rtlCol="0" anchor="t">
            <a:spAutoFit/>
          </a:bodyPr>
          <a:lstStyle/>
          <a:p>
            <a:pPr marL="0" indent="0" algn="l">
              <a:buNone/>
            </a:pPr>
            <a:r>
              <a:rPr lang="en-US" sz="750" dirty="0">
                <a:solidFill>
                  <a:srgbClr val="F4F6F8"/>
                </a:solidFill>
                <a:latin typeface="Courier New" pitchFamily="34" charset="0"/>
                <a:ea typeface="Courier New" pitchFamily="34" charset="-122"/>
                <a:cs typeface="Courier New" pitchFamily="34" charset="-120"/>
              </a:rPr>
              <a:t>Medical research &amp; diagnostics.</a:t>
            </a:r>
            <a:endParaRPr lang="en-US" sz="750" dirty="0"/>
          </a:p>
        </p:txBody>
      </p:sp>
      <p:sp>
        <p:nvSpPr>
          <p:cNvPr id="10" name="Shape 7"/>
          <p:cNvSpPr/>
          <p:nvPr/>
        </p:nvSpPr>
        <p:spPr>
          <a:xfrm>
            <a:off x="428625" y="3014663"/>
            <a:ext cx="3095588" cy="364331"/>
          </a:xfrm>
          <a:prstGeom prst="rect">
            <a:avLst/>
          </a:prstGeom>
          <a:solidFill>
            <a:srgbClr val="4E148C">
              <a:alpha val="10000"/>
            </a:srgbClr>
          </a:solidFill>
          <a:ln w="9144">
            <a:solidFill>
              <a:srgbClr val="4E148C"/>
            </a:solidFill>
            <a:prstDash val="solid"/>
          </a:ln>
        </p:spPr>
        <p:txBody>
          <a:bodyPr/>
          <a:lstStyle/>
          <a:p>
            <a:endParaRPr lang="en-US"/>
          </a:p>
        </p:txBody>
      </p:sp>
      <p:sp>
        <p:nvSpPr>
          <p:cNvPr id="11" name="Text 8"/>
          <p:cNvSpPr/>
          <p:nvPr/>
        </p:nvSpPr>
        <p:spPr>
          <a:xfrm>
            <a:off x="571500" y="3121819"/>
            <a:ext cx="2952713" cy="132159"/>
          </a:xfrm>
          <a:prstGeom prst="rect">
            <a:avLst/>
          </a:prstGeom>
          <a:noFill/>
          <a:ln/>
        </p:spPr>
        <p:txBody>
          <a:bodyPr wrap="square" lIns="0" tIns="0" rIns="0" bIns="0" rtlCol="0" anchor="t">
            <a:spAutoFit/>
          </a:bodyPr>
          <a:lstStyle/>
          <a:p>
            <a:pPr marL="0" indent="0" algn="l">
              <a:buNone/>
            </a:pPr>
            <a:r>
              <a:rPr lang="en-US" sz="800" b="1" dirty="0">
                <a:solidFill>
                  <a:srgbClr val="00A86B"/>
                </a:solidFill>
                <a:latin typeface="Courier New" pitchFamily="34" charset="0"/>
                <a:ea typeface="Courier New" pitchFamily="34" charset="-122"/>
                <a:cs typeface="Courier New" pitchFamily="34" charset="-120"/>
              </a:rPr>
              <a:t>EDUCATION</a:t>
            </a:r>
            <a:endParaRPr lang="en-US" sz="800" dirty="0"/>
          </a:p>
        </p:txBody>
      </p:sp>
      <p:sp>
        <p:nvSpPr>
          <p:cNvPr id="12" name="Text 9"/>
          <p:cNvSpPr/>
          <p:nvPr/>
        </p:nvSpPr>
        <p:spPr>
          <a:xfrm>
            <a:off x="571500" y="3253978"/>
            <a:ext cx="2952713" cy="110728"/>
          </a:xfrm>
          <a:prstGeom prst="rect">
            <a:avLst/>
          </a:prstGeom>
          <a:noFill/>
          <a:ln/>
        </p:spPr>
        <p:txBody>
          <a:bodyPr wrap="square" lIns="0" tIns="0" rIns="0" bIns="0" rtlCol="0" anchor="t">
            <a:spAutoFit/>
          </a:bodyPr>
          <a:lstStyle/>
          <a:p>
            <a:pPr marL="0" indent="0" algn="l">
              <a:buNone/>
            </a:pPr>
            <a:r>
              <a:rPr lang="en-US" sz="750" dirty="0">
                <a:solidFill>
                  <a:srgbClr val="F4F6F8"/>
                </a:solidFill>
                <a:latin typeface="Courier New" pitchFamily="34" charset="0"/>
                <a:ea typeface="Courier New" pitchFamily="34" charset="-122"/>
                <a:cs typeface="Courier New" pitchFamily="34" charset="-120"/>
              </a:rPr>
              <a:t>Personalized learning &amp; tutoring.</a:t>
            </a:r>
            <a:endParaRPr lang="en-US" sz="750" dirty="0"/>
          </a:p>
        </p:txBody>
      </p:sp>
      <p:sp>
        <p:nvSpPr>
          <p:cNvPr id="13" name="Shape 10"/>
          <p:cNvSpPr/>
          <p:nvPr/>
        </p:nvSpPr>
        <p:spPr>
          <a:xfrm>
            <a:off x="428625" y="3471863"/>
            <a:ext cx="3095588" cy="364331"/>
          </a:xfrm>
          <a:prstGeom prst="rect">
            <a:avLst/>
          </a:prstGeom>
          <a:solidFill>
            <a:srgbClr val="4E148C">
              <a:alpha val="10000"/>
            </a:srgbClr>
          </a:solidFill>
          <a:ln w="9144">
            <a:solidFill>
              <a:srgbClr val="4E148C"/>
            </a:solidFill>
            <a:prstDash val="solid"/>
          </a:ln>
        </p:spPr>
        <p:txBody>
          <a:bodyPr/>
          <a:lstStyle/>
          <a:p>
            <a:endParaRPr lang="en-US"/>
          </a:p>
        </p:txBody>
      </p:sp>
      <p:sp>
        <p:nvSpPr>
          <p:cNvPr id="14" name="Text 11"/>
          <p:cNvSpPr/>
          <p:nvPr/>
        </p:nvSpPr>
        <p:spPr>
          <a:xfrm>
            <a:off x="571500" y="3579019"/>
            <a:ext cx="2952713" cy="132159"/>
          </a:xfrm>
          <a:prstGeom prst="rect">
            <a:avLst/>
          </a:prstGeom>
          <a:noFill/>
          <a:ln/>
        </p:spPr>
        <p:txBody>
          <a:bodyPr wrap="square" lIns="0" tIns="0" rIns="0" bIns="0" rtlCol="0" anchor="t">
            <a:spAutoFit/>
          </a:bodyPr>
          <a:lstStyle/>
          <a:p>
            <a:pPr marL="0" indent="0" algn="l">
              <a:buNone/>
            </a:pPr>
            <a:r>
              <a:rPr lang="en-US" sz="800" b="1" dirty="0">
                <a:solidFill>
                  <a:srgbClr val="00A86B"/>
                </a:solidFill>
                <a:latin typeface="Courier New" pitchFamily="34" charset="0"/>
                <a:ea typeface="Courier New" pitchFamily="34" charset="-122"/>
                <a:cs typeface="Courier New" pitchFamily="34" charset="-120"/>
              </a:rPr>
              <a:t>SOFTWARE DEV</a:t>
            </a:r>
            <a:endParaRPr lang="en-US" sz="800" dirty="0"/>
          </a:p>
        </p:txBody>
      </p:sp>
      <p:sp>
        <p:nvSpPr>
          <p:cNvPr id="15" name="Text 12"/>
          <p:cNvSpPr/>
          <p:nvPr/>
        </p:nvSpPr>
        <p:spPr>
          <a:xfrm>
            <a:off x="571500" y="3711178"/>
            <a:ext cx="2952713" cy="110728"/>
          </a:xfrm>
          <a:prstGeom prst="rect">
            <a:avLst/>
          </a:prstGeom>
          <a:noFill/>
          <a:ln/>
        </p:spPr>
        <p:txBody>
          <a:bodyPr wrap="square" lIns="0" tIns="0" rIns="0" bIns="0" rtlCol="0" anchor="t">
            <a:spAutoFit/>
          </a:bodyPr>
          <a:lstStyle/>
          <a:p>
            <a:pPr marL="0" indent="0" algn="l">
              <a:buNone/>
            </a:pPr>
            <a:r>
              <a:rPr lang="en-US" sz="750" dirty="0">
                <a:solidFill>
                  <a:srgbClr val="F4F6F8"/>
                </a:solidFill>
                <a:latin typeface="Courier New" pitchFamily="34" charset="0"/>
                <a:ea typeface="Courier New" pitchFamily="34" charset="-122"/>
                <a:cs typeface="Courier New" pitchFamily="34" charset="-120"/>
              </a:rPr>
              <a:t>Code generation &amp; debugging.</a:t>
            </a:r>
            <a:endParaRPr lang="en-US" sz="750" dirty="0"/>
          </a:p>
        </p:txBody>
      </p:sp>
      <p:sp>
        <p:nvSpPr>
          <p:cNvPr id="16" name="Shape 13"/>
          <p:cNvSpPr/>
          <p:nvPr/>
        </p:nvSpPr>
        <p:spPr>
          <a:xfrm>
            <a:off x="428625" y="3929063"/>
            <a:ext cx="3095588" cy="364331"/>
          </a:xfrm>
          <a:prstGeom prst="rect">
            <a:avLst/>
          </a:prstGeom>
          <a:solidFill>
            <a:srgbClr val="4E148C">
              <a:alpha val="10000"/>
            </a:srgbClr>
          </a:solidFill>
          <a:ln w="9144">
            <a:solidFill>
              <a:srgbClr val="4E148C"/>
            </a:solidFill>
            <a:prstDash val="solid"/>
          </a:ln>
        </p:spPr>
        <p:txBody>
          <a:bodyPr/>
          <a:lstStyle/>
          <a:p>
            <a:endParaRPr lang="en-US"/>
          </a:p>
        </p:txBody>
      </p:sp>
      <p:sp>
        <p:nvSpPr>
          <p:cNvPr id="17" name="Text 14"/>
          <p:cNvSpPr/>
          <p:nvPr/>
        </p:nvSpPr>
        <p:spPr>
          <a:xfrm>
            <a:off x="571500" y="4036219"/>
            <a:ext cx="2952713" cy="132159"/>
          </a:xfrm>
          <a:prstGeom prst="rect">
            <a:avLst/>
          </a:prstGeom>
          <a:noFill/>
          <a:ln/>
        </p:spPr>
        <p:txBody>
          <a:bodyPr wrap="square" lIns="0" tIns="0" rIns="0" bIns="0" rtlCol="0" anchor="t">
            <a:spAutoFit/>
          </a:bodyPr>
          <a:lstStyle/>
          <a:p>
            <a:pPr marL="0" indent="0" algn="l">
              <a:buNone/>
            </a:pPr>
            <a:r>
              <a:rPr lang="en-US" sz="800" b="1" dirty="0">
                <a:solidFill>
                  <a:srgbClr val="00A86B"/>
                </a:solidFill>
                <a:latin typeface="Courier New" pitchFamily="34" charset="0"/>
                <a:ea typeface="Courier New" pitchFamily="34" charset="-122"/>
                <a:cs typeface="Courier New" pitchFamily="34" charset="-120"/>
              </a:rPr>
              <a:t>CREATIVE ARTS</a:t>
            </a:r>
            <a:endParaRPr lang="en-US" sz="800" dirty="0"/>
          </a:p>
        </p:txBody>
      </p:sp>
      <p:sp>
        <p:nvSpPr>
          <p:cNvPr id="18" name="Text 15"/>
          <p:cNvSpPr/>
          <p:nvPr/>
        </p:nvSpPr>
        <p:spPr>
          <a:xfrm>
            <a:off x="571500" y="4168378"/>
            <a:ext cx="2952713" cy="110728"/>
          </a:xfrm>
          <a:prstGeom prst="rect">
            <a:avLst/>
          </a:prstGeom>
          <a:noFill/>
          <a:ln/>
        </p:spPr>
        <p:txBody>
          <a:bodyPr wrap="square" lIns="0" tIns="0" rIns="0" bIns="0" rtlCol="0" anchor="t">
            <a:spAutoFit/>
          </a:bodyPr>
          <a:lstStyle/>
          <a:p>
            <a:pPr marL="0" indent="0" algn="l">
              <a:buNone/>
            </a:pPr>
            <a:r>
              <a:rPr lang="en-US" sz="750" dirty="0">
                <a:solidFill>
                  <a:srgbClr val="F4F6F8"/>
                </a:solidFill>
                <a:latin typeface="Courier New" pitchFamily="34" charset="0"/>
                <a:ea typeface="Courier New" pitchFamily="34" charset="-122"/>
                <a:cs typeface="Courier New" pitchFamily="34" charset="-120"/>
              </a:rPr>
              <a:t>Content creation &amp; design.</a:t>
            </a:r>
            <a:endParaRPr lang="en-US" sz="750" dirty="0"/>
          </a:p>
        </p:txBody>
      </p:sp>
      <p:pic>
        <p:nvPicPr>
          <p:cNvPr id="19" name="Image 1" descr="preencoded.png"/>
          <p:cNvPicPr>
            <a:picLocks noChangeAspect="1"/>
          </p:cNvPicPr>
          <p:nvPr/>
        </p:nvPicPr>
        <p:blipFill>
          <a:blip r:embed="rId4"/>
          <a:stretch>
            <a:fillRect/>
          </a:stretch>
        </p:blipFill>
        <p:spPr>
          <a:xfrm>
            <a:off x="3833738" y="1464469"/>
            <a:ext cx="4857750" cy="32146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3944" cy="1000125"/>
          </a:xfrm>
          <a:prstGeom prst="rect">
            <a:avLst/>
          </a:prstGeom>
          <a:solidFill>
            <a:srgbClr val="000000">
              <a:alpha val="0"/>
            </a:srgbClr>
          </a:solidFill>
          <a:ln/>
        </p:spPr>
        <p:txBody>
          <a:bodyPr/>
          <a:lstStyle/>
          <a:p>
            <a:endParaRPr lang="en-US"/>
          </a:p>
        </p:txBody>
      </p:sp>
      <p:sp>
        <p:nvSpPr>
          <p:cNvPr id="4" name="Shape 1"/>
          <p:cNvSpPr/>
          <p:nvPr/>
        </p:nvSpPr>
        <p:spPr>
          <a:xfrm>
            <a:off x="0" y="992981"/>
            <a:ext cx="9143944" cy="7144"/>
          </a:xfrm>
          <a:prstGeom prst="rect">
            <a:avLst/>
          </a:prstGeom>
          <a:solidFill>
            <a:srgbClr val="4E148C"/>
          </a:solidFill>
          <a:ln/>
        </p:spPr>
        <p:txBody>
          <a:bodyPr/>
          <a:lstStyle/>
          <a:p>
            <a:endParaRPr lang="en-US"/>
          </a:p>
        </p:txBody>
      </p:sp>
      <p:sp>
        <p:nvSpPr>
          <p:cNvPr id="5" name="Text 2"/>
          <p:cNvSpPr/>
          <p:nvPr/>
        </p:nvSpPr>
        <p:spPr>
          <a:xfrm>
            <a:off x="428625" y="428625"/>
            <a:ext cx="8715319" cy="438582"/>
          </a:xfrm>
          <a:prstGeom prst="rect">
            <a:avLst/>
          </a:prstGeom>
          <a:noFill/>
          <a:ln/>
        </p:spPr>
        <p:txBody>
          <a:bodyPr wrap="square" lIns="0" tIns="0" rIns="0" bIns="0" rtlCol="0" anchor="t">
            <a:spAutoFit/>
          </a:bodyPr>
          <a:lstStyle/>
          <a:p>
            <a:pPr marL="0" indent="0" algn="l">
              <a:buNone/>
            </a:pPr>
            <a:r>
              <a:rPr lang="en-US" sz="2850" b="1" kern="0" spc="-1" dirty="0">
                <a:solidFill>
                  <a:srgbClr val="00A86B"/>
                </a:solidFill>
                <a:ea typeface="Inter Black" pitchFamily="34" charset="-122"/>
                <a:cs typeface="Inter Black" pitchFamily="34" charset="-120"/>
              </a:rPr>
              <a:t>THE FUTURE OF AI</a:t>
            </a:r>
            <a:endParaRPr lang="en-US" sz="2850" dirty="0"/>
          </a:p>
        </p:txBody>
      </p:sp>
      <p:sp>
        <p:nvSpPr>
          <p:cNvPr id="6" name="Text 3"/>
          <p:cNvSpPr/>
          <p:nvPr/>
        </p:nvSpPr>
        <p:spPr>
          <a:xfrm>
            <a:off x="428625" y="1428750"/>
            <a:ext cx="3095588" cy="1114985"/>
          </a:xfrm>
          <a:prstGeom prst="rect">
            <a:avLst/>
          </a:prstGeom>
          <a:noFill/>
          <a:ln/>
        </p:spPr>
        <p:txBody>
          <a:bodyPr wrap="square" lIns="0" tIns="0" rIns="0" bIns="0" rtlCol="0" anchor="t">
            <a:spAutoFit/>
          </a:bodyPr>
          <a:lstStyle/>
          <a:p>
            <a:pPr marL="0" indent="0" algn="l">
              <a:lnSpc>
                <a:spcPct val="128000"/>
              </a:lnSpc>
              <a:buNone/>
            </a:pPr>
            <a:r>
              <a:rPr lang="en-US" sz="1150" dirty="0">
                <a:solidFill>
                  <a:srgbClr val="F4F6F8"/>
                </a:solidFill>
                <a:ea typeface="Courier New" pitchFamily="34" charset="-122"/>
                <a:cs typeface="Courier New" pitchFamily="34" charset="-120"/>
              </a:rPr>
              <a:t>LLMs represent a paradigm shift in human-computer interaction. As research progresses, we move toward a future where AI collaboration is seamless, intuitive, and universally integrated into our daily lives.</a:t>
            </a:r>
            <a:endParaRPr lang="en-US" sz="1150" dirty="0"/>
          </a:p>
        </p:txBody>
      </p:sp>
      <p:sp>
        <p:nvSpPr>
          <p:cNvPr id="7" name="Shape 4"/>
          <p:cNvSpPr/>
          <p:nvPr/>
        </p:nvSpPr>
        <p:spPr>
          <a:xfrm>
            <a:off x="428625" y="3617361"/>
            <a:ext cx="3095588" cy="514350"/>
          </a:xfrm>
          <a:prstGeom prst="rect">
            <a:avLst/>
          </a:prstGeom>
          <a:solidFill>
            <a:srgbClr val="4E148C"/>
          </a:solidFill>
          <a:ln w="9144">
            <a:solidFill>
              <a:srgbClr val="00A86B"/>
            </a:solidFill>
            <a:prstDash val="solid"/>
          </a:ln>
        </p:spPr>
        <p:txBody>
          <a:bodyPr/>
          <a:lstStyle/>
          <a:p>
            <a:endParaRPr lang="en-US"/>
          </a:p>
        </p:txBody>
      </p:sp>
      <p:sp>
        <p:nvSpPr>
          <p:cNvPr id="8" name="Text 5"/>
          <p:cNvSpPr/>
          <p:nvPr/>
        </p:nvSpPr>
        <p:spPr>
          <a:xfrm>
            <a:off x="607219" y="3795954"/>
            <a:ext cx="2738400" cy="153888"/>
          </a:xfrm>
          <a:prstGeom prst="rect">
            <a:avLst/>
          </a:prstGeom>
          <a:noFill/>
          <a:ln/>
        </p:spPr>
        <p:txBody>
          <a:bodyPr wrap="square" lIns="0" tIns="0" rIns="0" bIns="0" rtlCol="0" anchor="t">
            <a:spAutoFit/>
          </a:bodyPr>
          <a:lstStyle/>
          <a:p>
            <a:pPr marL="0" indent="0" algn="l">
              <a:buNone/>
            </a:pPr>
            <a:r>
              <a:rPr lang="en-US" sz="1000" b="1" kern="0" spc="2" dirty="0">
                <a:solidFill>
                  <a:srgbClr val="F4F6F8"/>
                </a:solidFill>
                <a:ea typeface="Inter Black" pitchFamily="34" charset="-122"/>
                <a:cs typeface="Inter Black" pitchFamily="34" charset="-120"/>
              </a:rPr>
              <a:t>THE FUTURE IS COLLABORATIVE</a:t>
            </a:r>
            <a:endParaRPr lang="en-US" sz="1000" dirty="0"/>
          </a:p>
        </p:txBody>
      </p:sp>
      <p:pic>
        <p:nvPicPr>
          <p:cNvPr id="10" name="Image 1" descr="preencoded.png"/>
          <p:cNvPicPr>
            <a:picLocks noChangeAspect="1"/>
          </p:cNvPicPr>
          <p:nvPr/>
        </p:nvPicPr>
        <p:blipFill>
          <a:blip r:embed="rId4"/>
          <a:stretch>
            <a:fillRect/>
          </a:stretch>
        </p:blipFill>
        <p:spPr>
          <a:xfrm>
            <a:off x="3812307" y="1000125"/>
            <a:ext cx="5329238" cy="41433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d2e4901-b5ad-42ae-9e9d-f456e52148af}" enabled="1" method="Privileged" siteId="{3b07dc1f-22e7-4be1-ac66-a88bf3550222}" contentBits="0" removed="0"/>
</clbl:labelList>
</file>

<file path=docProps/app.xml><?xml version="1.0" encoding="utf-8"?>
<Properties xmlns="http://schemas.openxmlformats.org/officeDocument/2006/extended-properties" xmlns:vt="http://schemas.openxmlformats.org/officeDocument/2006/docPropsVTypes">
  <TotalTime>100</TotalTime>
  <Words>603</Words>
  <Application>Microsoft Office PowerPoint</Application>
  <PresentationFormat>On-screen Show (16:9)</PresentationFormat>
  <Paragraphs>104</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Courier New</vt:lpstr>
      <vt:lpstr>Inter</vt:lpstr>
      <vt:lpstr>Inter Black</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Bhandari, Miraj</cp:lastModifiedBy>
  <cp:revision>1</cp:revision>
  <dcterms:created xsi:type="dcterms:W3CDTF">2026-07-16T14:56:52Z</dcterms:created>
  <dcterms:modified xsi:type="dcterms:W3CDTF">2026-07-17T07:18:12Z</dcterms:modified>
</cp:coreProperties>
</file>