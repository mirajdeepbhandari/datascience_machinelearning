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5" r:id="rId4"/>
    <p:sldId id="264" r:id="rId5"/>
    <p:sldId id="267" r:id="rId6"/>
    <p:sldId id="259" r:id="rId7"/>
    <p:sldId id="268" r:id="rId8"/>
    <p:sldId id="260" r:id="rId9"/>
    <p:sldId id="269" r:id="rId10"/>
    <p:sldId id="270" r:id="rId11"/>
    <p:sldId id="262" r:id="rId12"/>
    <p:sldId id="263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>
        <p:scale>
          <a:sx n="89" d="100"/>
          <a:sy n="89" d="100"/>
        </p:scale>
        <p:origin x="1274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3988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78D77-3A0C-91C7-2D3F-D8764499A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626DD0-FC90-EB36-8AE5-2769478ACC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210175-E340-5253-79A3-664EE11902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06AE51-350B-B280-1374-7DEA898755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2585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8F821-AF67-A3DE-1A76-6DCBBAD01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E5F1A0-263C-84AD-CD14-E720DFE114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7BA986-4238-C905-F5AC-2B0343999B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21569-2182-5418-AE58-A7EDCEF488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7520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942DE-865A-DCF1-1DBE-727FFBE07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70E8B6-1E7A-4397-7D2C-FDDF27BD00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1C0208-ADCB-185C-4C16-073EE48270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9A50D9-BA23-F81F-6F76-0F8292EE7B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6721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F8FCF-D315-4C8D-4DE2-926CEF529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419E27-B013-DD87-6499-B367697D45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0561E6-75A2-02BD-94F8-BDC542C903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https://www.youtube.com/shorts/DwyhphGXBoE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24F1EE-6798-5B7A-65F2-34058F3E03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6510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DBE4F-E5B7-3A1E-D745-892993356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89571-2BFB-168E-A978-980CE14FF0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6E4DE0-DD18-93AE-30DA-8E2F69ED17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70A4B7-70E8-C727-6424-BA1093FE16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8756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CAF4D-C4C8-851B-51BB-FB52D647C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6B62BF-ED52-841F-4C88-1FFDB6F2A4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609BF3-96F4-E387-BB61-03DDF28F7E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FA8CDC-4329-4D56-8E1C-388FE0C204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0162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9.png"/><Relationship Id="rId5" Type="http://schemas.openxmlformats.org/officeDocument/2006/relationships/image" Target="../media/image4.jpe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1582145"/>
            <a:ext cx="4868466" cy="1414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72000"/>
              </a:lnSpc>
              <a:buNone/>
            </a:pPr>
            <a:r>
              <a:rPr lang="en-US" sz="5700" b="1" kern="0" spc="-2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CNN
</a:t>
            </a:r>
            <a:r>
              <a:rPr lang="en-US" sz="5700" b="1" kern="0" spc="-2" dirty="0">
                <a:solidFill>
                  <a:srgbClr val="00D4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ESSENTIALS</a:t>
            </a:r>
            <a:endParaRPr lang="en-US" sz="5700" dirty="0"/>
          </a:p>
        </p:txBody>
      </p:sp>
      <p:sp>
        <p:nvSpPr>
          <p:cNvPr id="4" name="Text 1"/>
          <p:cNvSpPr/>
          <p:nvPr/>
        </p:nvSpPr>
        <p:spPr>
          <a:xfrm>
            <a:off x="714375" y="3225208"/>
            <a:ext cx="4868466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kern="0" spc="2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&amp; OPERATIONS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714375" y="3930653"/>
            <a:ext cx="4868466" cy="138499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6B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BY- MIRAJ DEEP BHANDARI 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0860"/>
            <a:ext cx="8572500" cy="438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2850" b="1" dirty="0">
                <a:solidFill>
                  <a:srgbClr val="00D4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ARCHITECTURE</a:t>
            </a:r>
            <a:endParaRPr lang="en-US" sz="28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573" y="1216663"/>
            <a:ext cx="6022042" cy="272311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4368403"/>
            <a:ext cx="189309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INPUT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71500" y="4577358"/>
            <a:ext cx="1893094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pixel volume</a:t>
            </a:r>
            <a:endParaRPr lang="en-US" sz="850" dirty="0"/>
          </a:p>
        </p:txBody>
      </p:sp>
      <p:sp>
        <p:nvSpPr>
          <p:cNvPr id="7" name="Text 3"/>
          <p:cNvSpPr/>
          <p:nvPr/>
        </p:nvSpPr>
        <p:spPr>
          <a:xfrm>
            <a:off x="2607469" y="4368403"/>
            <a:ext cx="189309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CONV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2607469" y="4577358"/>
            <a:ext cx="1893094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detection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4643438" y="4368403"/>
            <a:ext cx="189309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POOL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643438" y="4577358"/>
            <a:ext cx="1893094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compression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6679406" y="4368403"/>
            <a:ext cx="189309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FC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6679406" y="4577358"/>
            <a:ext cx="1893094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classification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35B88-B3B5-9F85-7F2B-825871EBE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0BF4E592-6449-3DFF-DC47-364760F7B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3A9E6238-D25D-BD6D-2581-864856EE0A6D}"/>
              </a:ext>
            </a:extLst>
          </p:cNvPr>
          <p:cNvSpPr/>
          <p:nvPr/>
        </p:nvSpPr>
        <p:spPr>
          <a:xfrm>
            <a:off x="544830" y="124489"/>
            <a:ext cx="8572500" cy="438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00D4FF"/>
                </a:solidFill>
                <a:latin typeface="Montserrat Bold" pitchFamily="34" charset="0"/>
              </a:rPr>
              <a:t>CONVOLUTION OPERATION</a:t>
            </a:r>
            <a:endParaRPr lang="en-US" sz="28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E1A38F-CE5D-92F9-1585-B6FB23EF32D6}"/>
              </a:ext>
            </a:extLst>
          </p:cNvPr>
          <p:cNvSpPr txBox="1"/>
          <p:nvPr/>
        </p:nvSpPr>
        <p:spPr>
          <a:xfrm>
            <a:off x="372862" y="563071"/>
            <a:ext cx="782625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The </a:t>
            </a:r>
            <a:r>
              <a:rPr lang="en-US" sz="1100" b="1" dirty="0">
                <a:solidFill>
                  <a:schemeClr val="bg1"/>
                </a:solidFill>
              </a:rPr>
              <a:t>convolution operation</a:t>
            </a:r>
            <a:r>
              <a:rPr lang="en-US" sz="1100" dirty="0">
                <a:solidFill>
                  <a:schemeClr val="bg1"/>
                </a:solidFill>
              </a:rPr>
              <a:t> is the heart of a </a:t>
            </a:r>
            <a:r>
              <a:rPr lang="en-US" sz="1100" b="1" dirty="0">
                <a:solidFill>
                  <a:schemeClr val="bg1"/>
                </a:solidFill>
              </a:rPr>
              <a:t>CNN</a:t>
            </a:r>
            <a:r>
              <a:rPr lang="en-US" sz="1100" dirty="0">
                <a:solidFill>
                  <a:schemeClr val="bg1"/>
                </a:solidFill>
              </a:rPr>
              <a:t>.</a:t>
            </a:r>
          </a:p>
          <a:p>
            <a:r>
              <a:rPr lang="en-US" sz="1100" dirty="0">
                <a:solidFill>
                  <a:schemeClr val="bg1"/>
                </a:solidFill>
              </a:rPr>
              <a:t>It extracts important features from an input image by applying learnable filters that detect patterns such as edges, textures, and shapes.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D8869CE-09EE-CC22-CD1F-8035A9620D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080" y="1050003"/>
            <a:ext cx="6076950" cy="4055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986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D43F0-913D-25A2-780E-482705C4C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020EEB17-51F0-5F5D-EED0-DF91F1EF7F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22480A0-5849-893B-C912-BE2B44D8D1E6}"/>
              </a:ext>
            </a:extLst>
          </p:cNvPr>
          <p:cNvSpPr/>
          <p:nvPr/>
        </p:nvSpPr>
        <p:spPr>
          <a:xfrm>
            <a:off x="571500" y="760642"/>
            <a:ext cx="857250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00D4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CONVOLUTION LOGIC</a:t>
            </a:r>
            <a:endParaRPr lang="en-US" sz="285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D1643E37-C4C9-1520-D4D1-E34624446559}"/>
              </a:ext>
            </a:extLst>
          </p:cNvPr>
          <p:cNvSpPr/>
          <p:nvPr/>
        </p:nvSpPr>
        <p:spPr>
          <a:xfrm>
            <a:off x="571500" y="1865970"/>
            <a:ext cx="4300538" cy="2871788"/>
          </a:xfrm>
          <a:prstGeom prst="rect">
            <a:avLst/>
          </a:prstGeom>
          <a:solidFill>
            <a:srgbClr val="111111"/>
          </a:solidFill>
          <a:ln w="9144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22B191AC-C178-4797-03B7-D128212083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688" y="2044564"/>
            <a:ext cx="3571875" cy="2500313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3AA99D5A-78DE-9056-8208-B36E7A28AA66}"/>
              </a:ext>
            </a:extLst>
          </p:cNvPr>
          <p:cNvSpPr/>
          <p:nvPr/>
        </p:nvSpPr>
        <p:spPr>
          <a:xfrm>
            <a:off x="5457825" y="1995450"/>
            <a:ext cx="311467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KERNEL</a:t>
            </a:r>
            <a:endParaRPr lang="en-US" sz="12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A4249C06-6631-FB3E-AC7C-512C7EFA8729}"/>
              </a:ext>
            </a:extLst>
          </p:cNvPr>
          <p:cNvSpPr/>
          <p:nvPr/>
        </p:nvSpPr>
        <p:spPr>
          <a:xfrm>
            <a:off x="5457825" y="2275842"/>
            <a:ext cx="31146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small weight matrix that slides over the input to detect patterns.</a:t>
            </a:r>
            <a:endParaRPr lang="en-US" sz="95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161A5100-1F22-75F2-160D-80810E812C46}"/>
              </a:ext>
            </a:extLst>
          </p:cNvPr>
          <p:cNvSpPr/>
          <p:nvPr/>
        </p:nvSpPr>
        <p:spPr>
          <a:xfrm>
            <a:off x="5457825" y="2921626"/>
            <a:ext cx="311467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DOT PRODUCT</a:t>
            </a:r>
            <a:endParaRPr lang="en-US" sz="12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5F243093-CE83-51AD-7140-E218D1307C9D}"/>
              </a:ext>
            </a:extLst>
          </p:cNvPr>
          <p:cNvSpPr/>
          <p:nvPr/>
        </p:nvSpPr>
        <p:spPr>
          <a:xfrm>
            <a:off x="5457825" y="3202019"/>
            <a:ext cx="31146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Element-wise multiplication and summation at every step.</a:t>
            </a:r>
            <a:endParaRPr lang="en-US" sz="95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BDF1DC1C-4892-2E47-A0B0-9E3C7957AF65}"/>
              </a:ext>
            </a:extLst>
          </p:cNvPr>
          <p:cNvSpPr/>
          <p:nvPr/>
        </p:nvSpPr>
        <p:spPr>
          <a:xfrm>
            <a:off x="5457825" y="3847802"/>
            <a:ext cx="311467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FEATURE MAP</a:t>
            </a:r>
            <a:endParaRPr lang="en-US" sz="12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BA97E3AC-832D-1A1F-958B-22919FB19EF8}"/>
              </a:ext>
            </a:extLst>
          </p:cNvPr>
          <p:cNvSpPr/>
          <p:nvPr/>
        </p:nvSpPr>
        <p:spPr>
          <a:xfrm>
            <a:off x="5457825" y="4128195"/>
            <a:ext cx="311467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spatial grid representing detected features.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01816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78F04-E3AC-E1DD-C0C2-97F01A806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07C99BF9-53E1-16C7-D081-E953D26E0E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5C8D1ADA-659D-5B4B-DA8A-33BB3F0C01B6}"/>
              </a:ext>
            </a:extLst>
          </p:cNvPr>
          <p:cNvSpPr/>
          <p:nvPr/>
        </p:nvSpPr>
        <p:spPr>
          <a:xfrm>
            <a:off x="544830" y="124489"/>
            <a:ext cx="857250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D4FF"/>
                </a:solidFill>
                <a:latin typeface="Montserrat Bold" pitchFamily="34" charset="0"/>
              </a:rPr>
              <a:t>CONVOLUTION MATH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A4E1F5-7658-31B2-F752-ED89EFFBE4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650" y="479023"/>
            <a:ext cx="6926580" cy="4617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966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60642"/>
            <a:ext cx="857250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00D4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OUTPUT GEOMETRY</a:t>
            </a:r>
            <a:endParaRPr lang="en-US" sz="2850" dirty="0"/>
          </a:p>
        </p:txBody>
      </p:sp>
      <p:sp>
        <p:nvSpPr>
          <p:cNvPr id="4" name="Text 1"/>
          <p:cNvSpPr/>
          <p:nvPr/>
        </p:nvSpPr>
        <p:spPr>
          <a:xfrm>
            <a:off x="571500" y="2016323"/>
            <a:ext cx="3214688" cy="696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4150" b="1" kern="0" spc="-2" dirty="0">
                <a:solidFill>
                  <a:srgbClr val="FF6B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STRIDE</a:t>
            </a:r>
            <a:endParaRPr lang="en-US" sz="4150" dirty="0"/>
          </a:p>
        </p:txBody>
      </p:sp>
      <p:sp>
        <p:nvSpPr>
          <p:cNvPr id="5" name="Text 2"/>
          <p:cNvSpPr/>
          <p:nvPr/>
        </p:nvSpPr>
        <p:spPr>
          <a:xfrm>
            <a:off x="3786188" y="1865970"/>
            <a:ext cx="478631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STEP SIZE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786188" y="2266020"/>
            <a:ext cx="4786313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Determines how many pixels the filter shifts. Larger strides result in smaller feature maps.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71500" y="3742209"/>
            <a:ext cx="3214688" cy="696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4150" b="1" kern="0" spc="-2" dirty="0">
                <a:solidFill>
                  <a:srgbClr val="FF6B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PADDING</a:t>
            </a:r>
            <a:endParaRPr lang="en-US" sz="4150" dirty="0"/>
          </a:p>
        </p:txBody>
      </p:sp>
      <p:sp>
        <p:nvSpPr>
          <p:cNvPr id="8" name="Text 5"/>
          <p:cNvSpPr/>
          <p:nvPr/>
        </p:nvSpPr>
        <p:spPr>
          <a:xfrm>
            <a:off x="3786188" y="3591855"/>
            <a:ext cx="478631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BORDER CONTROL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786188" y="3991905"/>
            <a:ext cx="4786313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Adds zero-pixels around the input to preserve spatial dimensions and edge information.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80F47-F2BA-19F9-3230-ED351DA1F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DF745D66-F8F5-0123-C22B-ABFA71BA7D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Deep learning_ Convolutions in CNN #deeplearning #cnn #convolutionalneuralnetworks">
            <a:hlinkClick r:id="" action="ppaction://media"/>
            <a:extLst>
              <a:ext uri="{FF2B5EF4-FFF2-40B4-BE49-F238E27FC236}">
                <a16:creationId xmlns:a16="http://schemas.microsoft.com/office/drawing/2014/main" id="{403DDE6A-0A6A-AA90-E313-ADA6A47F90F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169920" y="0"/>
            <a:ext cx="27432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16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701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60642"/>
            <a:ext cx="857250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00D4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EFFICIENT DOWNSAMPLING</a:t>
            </a:r>
            <a:endParaRPr lang="en-US" sz="2850" dirty="0"/>
          </a:p>
        </p:txBody>
      </p:sp>
      <p:sp>
        <p:nvSpPr>
          <p:cNvPr id="6" name="Text 2"/>
          <p:cNvSpPr/>
          <p:nvPr/>
        </p:nvSpPr>
        <p:spPr>
          <a:xfrm>
            <a:off x="1697534" y="3973376"/>
            <a:ext cx="160555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kern="0" spc="1" dirty="0">
                <a:solidFill>
                  <a:srgbClr val="FF6B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MAX POOLING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892969" y="4287701"/>
            <a:ext cx="3214688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Extracts the </a:t>
            </a:r>
            <a:r>
              <a:rPr lang="en-US" sz="900" b="1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peak activation</a:t>
            </a:r>
            <a:r>
              <a:rPr lang="en-US" sz="950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from each patch. Preserves the most prominent features while discarding noise.</a:t>
            </a:r>
            <a:endParaRPr lang="en-US" sz="950" dirty="0"/>
          </a:p>
        </p:txBody>
      </p:sp>
      <p:sp>
        <p:nvSpPr>
          <p:cNvPr id="10" name="Text 5"/>
          <p:cNvSpPr/>
          <p:nvPr/>
        </p:nvSpPr>
        <p:spPr>
          <a:xfrm>
            <a:off x="5560516" y="3973376"/>
            <a:ext cx="2166342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kern="0" spc="1" dirty="0">
                <a:solidFill>
                  <a:srgbClr val="FF6B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AVERAGE POOLING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5036344" y="4287701"/>
            <a:ext cx="32146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Computes the </a:t>
            </a:r>
            <a:r>
              <a:rPr lang="en-US" sz="900" b="1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 activation</a:t>
            </a:r>
            <a:r>
              <a:rPr lang="en-US" sz="950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Smoothes the feature map, often used in global pooling layers.</a:t>
            </a:r>
            <a:endParaRPr lang="en-US" sz="9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1E36A0B-7B61-1EEA-5F78-95E2F7D62B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397" y="1386015"/>
            <a:ext cx="8233893" cy="244110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AB7B8-0A07-8B66-6824-49B6624C8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4ABA3697-4615-5E07-5656-79E97182C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C92E92E3-B9FD-F712-DEFD-6820E42F9B6F}"/>
              </a:ext>
            </a:extLst>
          </p:cNvPr>
          <p:cNvSpPr/>
          <p:nvPr/>
        </p:nvSpPr>
        <p:spPr>
          <a:xfrm>
            <a:off x="395489" y="194059"/>
            <a:ext cx="857250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D4FF"/>
                </a:solidFill>
                <a:latin typeface="Montserrat Bold" pitchFamily="34" charset="0"/>
              </a:rPr>
              <a:t>OVERALL</a:t>
            </a: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457387-028D-737D-C40B-1650988D49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532" y="527238"/>
            <a:ext cx="6649792" cy="4433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166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6DF52-FA4F-4ABC-2E81-3C8E7A357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813CB3D5-2519-0852-DF23-D939C27DC1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FC56FC-0487-CF0B-39BB-18DB39E81B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322" y="422910"/>
            <a:ext cx="8791315" cy="4131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726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00D4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COMBATTING OVERFITTING</a:t>
            </a:r>
            <a:endParaRPr lang="en-US" sz="2850" dirty="0"/>
          </a:p>
        </p:txBody>
      </p:sp>
      <p:sp>
        <p:nvSpPr>
          <p:cNvPr id="4" name="Text 1"/>
          <p:cNvSpPr/>
          <p:nvPr/>
        </p:nvSpPr>
        <p:spPr>
          <a:xfrm>
            <a:off x="571500" y="1594312"/>
            <a:ext cx="3714750" cy="1485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Augmentation creates </a:t>
            </a:r>
            <a:r>
              <a:rPr lang="en-US" sz="16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synthetic variety</a:t>
            </a: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from existing data, forcing the model to learn invariant features rather than memorizing noise.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742950" y="3565903"/>
            <a:ext cx="354330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Essential for small datasets to achieve high generalization.</a:t>
            </a:r>
            <a:endParaRPr lang="en-US" sz="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0" y="1541264"/>
            <a:ext cx="225028" cy="2571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57750" y="1935956"/>
            <a:ext cx="175021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GEOMETRIC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857750" y="2180630"/>
            <a:ext cx="1750219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Flip, Rotate, Crop, Zoom, Translate</a:t>
            </a:r>
            <a:endParaRPr lang="en-US" sz="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2281" y="1541264"/>
            <a:ext cx="257175" cy="2571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822281" y="1935956"/>
            <a:ext cx="175021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COLOR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6822281" y="2180630"/>
            <a:ext cx="1750219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Brightness, Contrast, Hue, Saturation</a:t>
            </a:r>
            <a:endParaRPr lang="en-US" sz="850" dirty="0"/>
          </a:p>
        </p:txBody>
      </p:sp>
      <p:sp>
        <p:nvSpPr>
          <p:cNvPr id="12" name="Text 7"/>
          <p:cNvSpPr/>
          <p:nvPr/>
        </p:nvSpPr>
        <p:spPr>
          <a:xfrm>
            <a:off x="4857750" y="3306105"/>
            <a:ext cx="175021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FILTERS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4857750" y="3550779"/>
            <a:ext cx="1750219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Gaussian Blur, Sharpen, Noise Injection</a:t>
            </a:r>
            <a:endParaRPr lang="en-US" sz="8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2281" y="2911413"/>
            <a:ext cx="257175" cy="25717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822281" y="3306105"/>
            <a:ext cx="175021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ERASING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6822281" y="3550779"/>
            <a:ext cx="1750219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Occlusion, Cutout, Mixup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60642"/>
            <a:ext cx="857250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00D4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CNN WORKFLOW</a:t>
            </a:r>
            <a:endParaRPr lang="en-US" sz="2850" dirty="0"/>
          </a:p>
        </p:txBody>
      </p:sp>
      <p:sp>
        <p:nvSpPr>
          <p:cNvPr id="4" name="Shape 1"/>
          <p:cNvSpPr/>
          <p:nvPr/>
        </p:nvSpPr>
        <p:spPr>
          <a:xfrm>
            <a:off x="571500" y="2151720"/>
            <a:ext cx="2476481" cy="247173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71500" y="2151720"/>
            <a:ext cx="2476481" cy="42863"/>
          </a:xfrm>
          <a:prstGeom prst="rect">
            <a:avLst/>
          </a:prstGeom>
          <a:solidFill>
            <a:srgbClr val="FF6B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1141" y="2480332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50767" y="3205423"/>
            <a:ext cx="71794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LEARN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85813" y="3555467"/>
            <a:ext cx="2047856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Convolution layers extract hierarchical features from raw pixels.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3333731" y="2151720"/>
            <a:ext cx="2476509" cy="247173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3333731" y="2151720"/>
            <a:ext cx="2476509" cy="42863"/>
          </a:xfrm>
          <a:prstGeom prst="rect">
            <a:avLst/>
          </a:prstGeom>
          <a:solidFill>
            <a:srgbClr val="FF6B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372" y="2480332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982613" y="3205423"/>
            <a:ext cx="1178719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COMPRESS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3548044" y="3555467"/>
            <a:ext cx="204788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Pooling simplifies data volume while retaining key activations.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6095991" y="2151720"/>
            <a:ext cx="2476481" cy="247173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6095991" y="2151720"/>
            <a:ext cx="2476481" cy="42863"/>
          </a:xfrm>
          <a:prstGeom prst="rect">
            <a:avLst/>
          </a:prstGeom>
          <a:solidFill>
            <a:srgbClr val="FF6B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5631" y="2480332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664505" y="3205423"/>
            <a:ext cx="133945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GENERALIZE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6310303" y="3555467"/>
            <a:ext cx="204785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Augmentation expands datasets to prevent model overfitting.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d2e4901-b5ad-42ae-9e9d-f456e52148af}" enabled="1" method="Privileged" siteId="{3b07dc1f-22e7-4be1-ac66-a88bf355022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297</Words>
  <Application>Microsoft Office PowerPoint</Application>
  <PresentationFormat>On-screen Show (16:9)</PresentationFormat>
  <Paragraphs>67</Paragraphs>
  <Slides>12</Slides>
  <Notes>12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Inter</vt:lpstr>
      <vt:lpstr>Montserrat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Bhandari, Miraj</cp:lastModifiedBy>
  <cp:revision>10</cp:revision>
  <dcterms:created xsi:type="dcterms:W3CDTF">2026-07-01T08:22:24Z</dcterms:created>
  <dcterms:modified xsi:type="dcterms:W3CDTF">2026-07-01T10:02:18Z</dcterms:modified>
</cp:coreProperties>
</file>